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7163b93bb4cb6" /><Relationship Type="http://schemas.openxmlformats.org/officeDocument/2006/relationships/extended-properties" Target="/docProps/app.xml" Id="R0b452b1160de41e2" /><Relationship Type="http://schemas.openxmlformats.org/officeDocument/2006/relationships/officeDocument" Target="/ppt/presentation.xml" Id="Rfacfd958f55e45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e739ad89c4695"/>
  </p:sldMasterIdLst>
  <p:notesMasterIdLst>
    <p:notesMasterId xmlns:r="http://schemas.openxmlformats.org/officeDocument/2006/relationships" r:id="R1f2ac1b05c494959"/>
  </p:notesMasterIdLst>
  <p:sldIdLst>
    <p:sldId xmlns:r="http://schemas.openxmlformats.org/officeDocument/2006/relationships" id="256" r:id="Rd4798cfe22774a92"/>
    <p:sldId xmlns:r="http://schemas.openxmlformats.org/officeDocument/2006/relationships" id="257" r:id="R3883e3aaa99e4052"/>
    <p:sldId xmlns:r="http://schemas.openxmlformats.org/officeDocument/2006/relationships" id="258" r:id="R86150fda126c4c4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93bb7920714fc9" /><Relationship Type="http://schemas.openxmlformats.org/officeDocument/2006/relationships/slideMaster" Target="/ppt/slideMasters/slideMaster1.xml" Id="R012e739ad89c4695" /><Relationship Type="http://schemas.openxmlformats.org/officeDocument/2006/relationships/notesMaster" Target="/ppt/notesMasters/notesMaster1.xml" Id="R1f2ac1b05c494959" /><Relationship Type="http://schemas.openxmlformats.org/officeDocument/2006/relationships/presProps" Target="/ppt/presProps.xml" Id="Rc19db2cbd15f4b8f" /><Relationship Type="http://schemas.openxmlformats.org/officeDocument/2006/relationships/viewProps" Target="/ppt/viewProps.xml" Id="Rf80ce620848241ff" /><Relationship Type="http://schemas.openxmlformats.org/officeDocument/2006/relationships/tableStyles" Target="/ppt/tableStyles.xml" Id="Ra4dd7bf502cc439f" /><Relationship Type="http://schemas.openxmlformats.org/officeDocument/2006/relationships/slide" Target="/ppt/slides/slide1.xml" Id="Rd4798cfe22774a92" /><Relationship Type="http://schemas.openxmlformats.org/officeDocument/2006/relationships/slide" Target="/ppt/slides/slide2.xml" Id="R3883e3aaa99e4052" /><Relationship Type="http://schemas.openxmlformats.org/officeDocument/2006/relationships/slide" Target="/ppt/slides/slide3.xml" Id="R86150fda126c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ecabbece04a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c43730f10456b" /><Relationship Type="http://schemas.openxmlformats.org/officeDocument/2006/relationships/notesMaster" Target="/ppt/notesMasters/notesMaster1.xml" Id="R43106fba04bb4d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f4b90fb34417f" /><Relationship Type="http://schemas.openxmlformats.org/officeDocument/2006/relationships/notesMaster" Target="/ppt/notesMasters/notesMaster1.xml" Id="R85549f092227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c5bc297aac48d8" /><Relationship Type="http://schemas.openxmlformats.org/officeDocument/2006/relationships/notesMaster" Target="/ppt/notesMasters/notesMaster1.xml" Id="R847ebefe2f4d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W-CO, W-RG and W-SGB are separate studies. W-SGB bar heights are seed-level summaries from welfare-semantic-boundary.json. Execution contrast does not identify necessity for the gift-versus-neutral effect. Message byte identity does not imply identical state-dependent prompt trajectories.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absolute rates are recomputed from the arithmetic mean of mechanism.hhSwapRate across 14 frozen runs per arm in welfare-semantic-boundary.json. Differences retain paired seed-level interpretation. Gift and Easy-only do not clear the named-relation engagement gate. Hard-partner permits Hard actors and Hard partners, but unconditional giving resolving as a swap is not an explicitly named swap instruction.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87776b21a43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02dabd09c44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f6211db5d46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62bf6fe1e46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3171b643847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79f820c274b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12f2bbb9a49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afb63633443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73b4b0dcd47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42c8c0a54482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8dca60d4d43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2F8EA-B2BB-45AB-8CB5-239F9D0367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AEF1BFA-C5D6-476E-A4ED-8029DA82C0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DAF3D4-4BF0-4045-ABAD-7FD0A25690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2B8B38-D548-46E1-8E48-C2A46A954A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645419-840D-4166-B9C5-6F695D25B3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697033-CFF4-4A53-B4C7-BE6362251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630490-AE9D-41D4-AFFB-05732C273F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F205A6-C08F-4A7D-B4E1-F2A708328F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169EE2-21A5-41C5-B08A-38135D6ADE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6190BE-E3E5-4086-B4A8-9C215890BC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B38756-67F5-4976-B450-6ED5DF0F2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42D348-8002-432D-8CF2-7D7AC0287F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147551-5B2A-4F8B-BEFF-E0C3C6406B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ED4FD-498D-4460-B39D-99E642A47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C1B26-A3F9-4EFC-A87A-A486627310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007AF7-986B-4AC9-B640-026179C9E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106DDF-03A5-417C-B323-5619D5C0B8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BC1901-4ED4-485E-9D5C-5CC9926EBC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8955AC-6F83-408E-8AAA-EBBC28C3B7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E18E97-AAA8-4196-A07F-358341FBBA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442DB9-027B-4889-ADAD-D116F36881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96D249-6D2E-4886-AB0A-67570A606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EADD3C-D669-49BE-A520-3929A6551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BF6D3AD-570D-4361-B6D1-83C3F17D07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B520275-33D0-4D7A-8FD0-6804DB58FA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B3F700E-D0CE-45D6-AF52-FDA78EEECA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A5C034F-2DEC-4B36-A90D-48DF822257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FC1CE43-1B00-41A6-B7FC-FD8BCABCA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0F3F499-FD7A-4498-862B-2954E9EAD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A53B16-A99F-4A2C-85D1-DE47A5D4D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C31292-381A-4820-9152-F32CB8B303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1C54C3B-F184-4D7B-B1E9-0A69E25D19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0E72D50-D27F-4841-BA2D-6134564466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903C48E-6A8A-428B-B504-3AC07B5D8F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0688FE8-9A8F-45D6-86B8-4BC383CB1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6EDCFD5-5C77-4057-B176-403CAF2B7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E363FC-732D-4F16-ACE5-6C04594CE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89E9D8-F9A1-4582-B893-5AB8DEC59F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D8A394-3FD6-495A-8375-8F63548BA5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1551C17-897E-4B56-824C-E108193209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E4370C-3E08-458E-AC8D-5745036EC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9885931-DDCD-44BF-8C55-90C01B50A0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86A018-A722-4549-A576-F48EA5AD2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121E113-5ECB-417F-98B5-9AB1D6AEE16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7CC81D-9E18-4ACD-B0F9-6EB50990D7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B19D07-12D6-4829-8220-B3DDF464C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878D0C-8594-43C9-A651-4E25C01252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52C6123-17FF-4587-96EE-681E73099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23C24E-8DE5-4E23-B7FC-97EF6EDB7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2EA5AB-35BF-497B-83F7-E74AF1582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5199AF-AECD-4AE9-A603-5B68FDCC16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B2828D-E950-4D8D-A568-53C58F5C08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6EFA01-3678-49D8-AF9F-EE376851FD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DCE157F-907F-4C54-804D-9EFA30A6B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08CB83-C45F-4E0B-AB50-2913208FE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0506A8-B68C-4549-BA1E-4119E38E8E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36D588-99E9-403F-B01D-6B78D9FD95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D81D95-F13F-4D6C-9765-55693FCA74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f7ea80824410b" /><Relationship Type="http://schemas.openxmlformats.org/officeDocument/2006/relationships/slideLayout" Target="/ppt/slideLayouts/slideLayout1.xml" Id="Rb2ad115911c144a7" /><Relationship Type="http://schemas.openxmlformats.org/officeDocument/2006/relationships/slideLayout" Target="/ppt/slideLayouts/slideLayout2.xml" Id="Rada3ef93251e4cc3" /><Relationship Type="http://schemas.openxmlformats.org/officeDocument/2006/relationships/slideLayout" Target="/ppt/slideLayouts/slideLayout3.xml" Id="R9ebf7fcbf5124ab3" /><Relationship Type="http://schemas.openxmlformats.org/officeDocument/2006/relationships/slideLayout" Target="/ppt/slideLayouts/slideLayout4.xml" Id="R23f72329f3c84e4e" /><Relationship Type="http://schemas.openxmlformats.org/officeDocument/2006/relationships/slideLayout" Target="/ppt/slideLayouts/slideLayout5.xml" Id="R5f43f93b642b4667" /><Relationship Type="http://schemas.openxmlformats.org/officeDocument/2006/relationships/slideLayout" Target="/ppt/slideLayouts/slideLayout6.xml" Id="R60836f5e09344571" /><Relationship Type="http://schemas.openxmlformats.org/officeDocument/2006/relationships/slideLayout" Target="/ppt/slideLayouts/slideLayout7.xml" Id="R91a7cbd9e79c46eb" /><Relationship Type="http://schemas.openxmlformats.org/officeDocument/2006/relationships/slideLayout" Target="/ppt/slideLayouts/slideLayout8.xml" Id="R77c384f534874a41" /><Relationship Type="http://schemas.openxmlformats.org/officeDocument/2006/relationships/slideLayout" Target="/ppt/slideLayouts/slideLayout9.xml" Id="R93f7c72162574dcc" /><Relationship Type="http://schemas.openxmlformats.org/officeDocument/2006/relationships/slideLayout" Target="/ppt/slideLayouts/slideLayout10.xml" Id="R308b5a9a40064985" /><Relationship Type="http://schemas.openxmlformats.org/officeDocument/2006/relationships/slideLayout" Target="/ppt/slideLayouts/slideLayout11.xml" Id="R12be4922050447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AA076F4-A898-4609-88E8-9EE8751DB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12CAE4-88FD-4AD1-91BD-054859497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D0CE52-EE5A-4924-B96D-2EE9AD60E82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09AC14-9FC5-4CEF-8E26-7BD4663893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FE1976-B261-489D-8013-8103621DE4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d115911c144a7"/>
    <p:sldLayoutId xmlns:r="http://schemas.openxmlformats.org/officeDocument/2006/relationships" id="2147483650" r:id="Rada3ef93251e4cc3"/>
    <p:sldLayoutId xmlns:r="http://schemas.openxmlformats.org/officeDocument/2006/relationships" id="2147483651" r:id="R9ebf7fcbf5124ab3"/>
    <p:sldLayoutId xmlns:r="http://schemas.openxmlformats.org/officeDocument/2006/relationships" id="2147483652" r:id="R23f72329f3c84e4e"/>
    <p:sldLayoutId xmlns:r="http://schemas.openxmlformats.org/officeDocument/2006/relationships" id="2147483653" r:id="R5f43f93b642b4667"/>
    <p:sldLayoutId xmlns:r="http://schemas.openxmlformats.org/officeDocument/2006/relationships" id="2147483654" r:id="R60836f5e09344571"/>
    <p:sldLayoutId xmlns:r="http://schemas.openxmlformats.org/officeDocument/2006/relationships" id="2147483655" r:id="R91a7cbd9e79c46eb"/>
    <p:sldLayoutId xmlns:r="http://schemas.openxmlformats.org/officeDocument/2006/relationships" id="2147483656" r:id="R77c384f534874a41"/>
    <p:sldLayoutId xmlns:r="http://schemas.openxmlformats.org/officeDocument/2006/relationships" id="2147483657" r:id="R93f7c72162574dcc"/>
    <p:sldLayoutId xmlns:r="http://schemas.openxmlformats.org/officeDocument/2006/relationships" id="2147483658" r:id="R308b5a9a40064985"/>
    <p:sldLayoutId xmlns:r="http://schemas.openxmlformats.org/officeDocument/2006/relationships" id="2147483659" r:id="R12be49220504478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1fccade2544efd" /><Relationship Type="http://schemas.openxmlformats.org/officeDocument/2006/relationships/notesSlide" Target="/ppt/notesSlides/notesSlide1.xml" Id="R9531f3ea26b542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4faa3417bb4c4a" /><Relationship Type="http://schemas.openxmlformats.org/officeDocument/2006/relationships/notesSlide" Target="/ppt/notesSlides/notesSlide2.xml" Id="Re03fe1f7aa8a46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64e62ec7b34386" /><Relationship Type="http://schemas.openxmlformats.org/officeDocument/2006/relationships/notesSlide" Target="/ppt/notesSlides/notesSlide3.xml" Id="R134b9929cd2347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1_R1_Card_Discovery">
            <a:extLst xmlns:a="http://schemas.openxmlformats.org/drawingml/2006/main">
              <a:ext uri="{FF2B5EF4-FFF2-40B4-BE49-F238E27FC236}">
                <a16:creationId xmlns:a16="http://schemas.microsoft.com/office/drawing/2014/main" id="{7C61526B-3F9B-4F60-BBB5-1A2EAEFF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" y="1333500"/>
            <a:ext cx="27178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>
            <a:solidFill>
              <a:srgbClr val="BAE6F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F1_R1_Title">
            <a:extLst xmlns:a="http://schemas.openxmlformats.org/drawingml/2006/main">
              <a:ext uri="{FF2B5EF4-FFF2-40B4-BE49-F238E27FC236}">
                <a16:creationId xmlns:a16="http://schemas.microsoft.com/office/drawing/2014/main" id="{82F23C3E-0698-4A47-9EFD-94A6044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" y="711200"/>
            <a:ext cx="825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88"/>
            </a:pPr>
            <a:r>
              <a:rPr sz="1988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Public messages, execution rules, and welfare</a:t>
            </a:r>
          </a:p>
        </p:txBody>
      </p:sp>
      <p:sp>
        <p:nvSpPr>
          <p:cNvPr id="4" name="F1_R1_Subtitle">
            <a:extLst xmlns:a="http://schemas.openxmlformats.org/drawingml/2006/main">
              <a:ext uri="{FF2B5EF4-FFF2-40B4-BE49-F238E27FC236}">
                <a16:creationId xmlns:a16="http://schemas.microsoft.com/office/drawing/2014/main" id="{937D9A84-5B06-45A0-93A7-DFEEF9EA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" y="1016000"/>
            <a:ext cx="8255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Discovery, execution intervention, and prospective message comparison in the same economy.</a:t>
            </a:r>
          </a:p>
        </p:txBody>
      </p:sp>
      <p:sp>
        <p:nvSpPr>
          <p:cNvPr id="5" name="F1_R1_C1_Badge">
            <a:extLst xmlns:a="http://schemas.openxmlformats.org/drawingml/2006/main">
              <a:ext uri="{FF2B5EF4-FFF2-40B4-BE49-F238E27FC236}">
                <a16:creationId xmlns:a16="http://schemas.microsoft.com/office/drawing/2014/main" id="{49206060-9E4D-4CF0-896E-7E26624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84300"/>
            <a:ext cx="6096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12700">
            <a:solidFill>
              <a:srgbClr val="1E5AA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W-CO</a:t>
            </a:r>
          </a:p>
        </p:txBody>
      </p:sp>
      <p:sp>
        <p:nvSpPr>
          <p:cNvPr id="6" name="F1_R1_C1_Heading">
            <a:extLst xmlns:a="http://schemas.openxmlformats.org/drawingml/2006/main">
              <a:ext uri="{FF2B5EF4-FFF2-40B4-BE49-F238E27FC236}">
                <a16:creationId xmlns:a16="http://schemas.microsoft.com/office/drawing/2014/main" id="{A6127A50-8BA7-45E8-A922-4C3F7A4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651000"/>
            <a:ext cx="2489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7" name="F1_R1_C1_Row1">
            <a:extLst xmlns:a="http://schemas.openxmlformats.org/drawingml/2006/main">
              <a:ext uri="{FF2B5EF4-FFF2-40B4-BE49-F238E27FC236}">
                <a16:creationId xmlns:a16="http://schemas.microsoft.com/office/drawing/2014/main" id="{6AD6043F-6F61-4267-82BA-F1EDEFE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8669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Gift − Money  +2.333</a:t>
            </a:r>
          </a:p>
        </p:txBody>
      </p:sp>
      <p:sp>
        <p:nvSpPr>
          <p:cNvPr id="8" name="F1_R1_C1_Row2">
            <a:extLst xmlns:a="http://schemas.openxmlformats.org/drawingml/2006/main">
              <a:ext uri="{FF2B5EF4-FFF2-40B4-BE49-F238E27FC236}">
                <a16:creationId xmlns:a16="http://schemas.microsoft.com/office/drawing/2014/main" id="{E17964C9-2FB9-4023-9B94-1E35300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20701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Planned gift/sale mechanism gate failed</a:t>
            </a:r>
          </a:p>
        </p:txBody>
      </p:sp>
      <p:sp>
        <p:nvSpPr>
          <p:cNvPr id="9" name="F1_R1_C1_Row3">
            <a:extLst xmlns:a="http://schemas.openxmlformats.org/drawingml/2006/main">
              <a:ext uri="{FF2B5EF4-FFF2-40B4-BE49-F238E27FC236}">
                <a16:creationId xmlns:a16="http://schemas.microsoft.com/office/drawing/2014/main" id="{EBDA3ABD-3582-46DD-9BC1-9A418629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22733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Post-hoc H–H swaps: 27 → 138</a:t>
            </a:r>
          </a:p>
        </p:txBody>
      </p:sp>
      <p:sp>
        <p:nvSpPr>
          <p:cNvPr id="10" name="F1_R1_C2_Card">
            <a:extLst xmlns:a="http://schemas.openxmlformats.org/drawingml/2006/main">
              <a:ext uri="{FF2B5EF4-FFF2-40B4-BE49-F238E27FC236}">
                <a16:creationId xmlns:a16="http://schemas.microsoft.com/office/drawing/2014/main" id="{52F6854C-A38E-448F-A124-CF0E8EA6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100" y="1333500"/>
            <a:ext cx="2717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EFD"/>
          </a:solidFill>
          <a:ln xmlns:a="http://schemas.openxmlformats.org/drawingml/2006/main" w="12700">
            <a:solidFill>
              <a:srgbClr val="5EEA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F1_R1_C2_Badge">
            <a:extLst xmlns:a="http://schemas.openxmlformats.org/drawingml/2006/main">
              <a:ext uri="{FF2B5EF4-FFF2-40B4-BE49-F238E27FC236}">
                <a16:creationId xmlns:a16="http://schemas.microsoft.com/office/drawing/2014/main" id="{1C8CC5CC-B9D6-4FD9-B7E1-8F076D15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84300"/>
            <a:ext cx="6096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12700">
            <a:solidFill>
              <a:srgbClr val="0F9F8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W-RG</a:t>
            </a:r>
          </a:p>
        </p:txBody>
      </p:sp>
      <p:sp>
        <p:nvSpPr>
          <p:cNvPr id="12" name="F1_R1_C2_Heading">
            <a:extLst xmlns:a="http://schemas.openxmlformats.org/drawingml/2006/main">
              <a:ext uri="{FF2B5EF4-FFF2-40B4-BE49-F238E27FC236}">
                <a16:creationId xmlns:a16="http://schemas.microsoft.com/office/drawing/2014/main" id="{9F2B0289-BCAD-4023-A3A3-FA148DA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651000"/>
            <a:ext cx="2489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Execution Contrast</a:t>
            </a:r>
          </a:p>
        </p:txBody>
      </p:sp>
      <p:sp>
        <p:nvSpPr>
          <p:cNvPr id="13" name="F1_R1_C2_Row1">
            <a:extLst xmlns:a="http://schemas.openxmlformats.org/drawingml/2006/main">
              <a:ext uri="{FF2B5EF4-FFF2-40B4-BE49-F238E27FC236}">
                <a16:creationId xmlns:a16="http://schemas.microsoft.com/office/drawing/2014/main" id="{CA481764-BA70-4AFD-B689-9E723FA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8669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/>
            </a:pPr>
            <a:r>
              <a:rPr sz="923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Same public message, altered execution</a:t>
            </a:r>
          </a:p>
        </p:txBody>
      </p:sp>
      <p:sp>
        <p:nvSpPr>
          <p:cNvPr id="14" name="F1_R1_C2_Row2">
            <a:extLst xmlns:a="http://schemas.openxmlformats.org/drawingml/2006/main">
              <a:ext uri="{FF2B5EF4-FFF2-40B4-BE49-F238E27FC236}">
                <a16:creationId xmlns:a16="http://schemas.microsoft.com/office/drawing/2014/main" id="{CD8B855F-6DC0-4EA4-9FA2-D5CA7249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0701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Block H–H giving: −3.208 welfare</a:t>
            </a:r>
          </a:p>
        </p:txBody>
      </p:sp>
      <p:sp>
        <p:nvSpPr>
          <p:cNvPr id="15" name="F1_R1_C2_Row3">
            <a:extLst xmlns:a="http://schemas.openxmlformats.org/drawingml/2006/main">
              <a:ext uri="{FF2B5EF4-FFF2-40B4-BE49-F238E27FC236}">
                <a16:creationId xmlns:a16="http://schemas.microsoft.com/office/drawing/2014/main" id="{292BA2BA-5C34-43FD-92EE-BEB72AA1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2733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12/12 paired seeds in the same direction</a:t>
            </a:r>
          </a:p>
        </p:txBody>
      </p:sp>
      <p:sp>
        <p:nvSpPr>
          <p:cNvPr id="16" name="F1_R1_C2_Row4">
            <a:extLst xmlns:a="http://schemas.openxmlformats.org/drawingml/2006/main">
              <a:ext uri="{FF2B5EF4-FFF2-40B4-BE49-F238E27FC236}">
                <a16:creationId xmlns:a16="http://schemas.microsoft.com/office/drawing/2014/main" id="{5416EFA9-98E0-4DEB-8A1C-129EFD8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4765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Hard solves account for 306/308 points</a:t>
            </a:r>
          </a:p>
        </p:txBody>
      </p:sp>
      <p:sp>
        <p:nvSpPr>
          <p:cNvPr id="17" name="F1_R1_C3_Card">
            <a:extLst xmlns:a="http://schemas.openxmlformats.org/drawingml/2006/main">
              <a:ext uri="{FF2B5EF4-FFF2-40B4-BE49-F238E27FC236}">
                <a16:creationId xmlns:a16="http://schemas.microsoft.com/office/drawing/2014/main" id="{10BBA14A-A176-4A3C-A746-B56053B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33500"/>
            <a:ext cx="2717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8FF"/>
          </a:solidFill>
          <a:ln xmlns:a="http://schemas.openxmlformats.org/drawingml/2006/main" w="12700">
            <a:solidFill>
              <a:srgbClr val="C4B5F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F1_R1_C3_Badge">
            <a:extLst xmlns:a="http://schemas.openxmlformats.org/drawingml/2006/main">
              <a:ext uri="{FF2B5EF4-FFF2-40B4-BE49-F238E27FC236}">
                <a16:creationId xmlns:a16="http://schemas.microsoft.com/office/drawing/2014/main" id="{C99284CA-1BEC-43C2-B242-699AF8F6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1384300"/>
            <a:ext cx="6096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W-SGB</a:t>
            </a:r>
          </a:p>
        </p:txBody>
      </p:sp>
      <p:sp>
        <p:nvSpPr>
          <p:cNvPr id="19" name="F1_R1_C3_Heading">
            <a:extLst xmlns:a="http://schemas.openxmlformats.org/drawingml/2006/main">
              <a:ext uri="{FF2B5EF4-FFF2-40B4-BE49-F238E27FC236}">
                <a16:creationId xmlns:a16="http://schemas.microsoft.com/office/drawing/2014/main" id="{300F79B4-5FF3-41DB-B4E6-A991C725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1000"/>
            <a:ext cx="2489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Message Comparison</a:t>
            </a:r>
          </a:p>
        </p:txBody>
      </p:sp>
      <p:sp>
        <p:nvSpPr>
          <p:cNvPr id="20" name="F1_R1_C3_Row1">
            <a:extLst xmlns:a="http://schemas.openxmlformats.org/drawingml/2006/main">
              <a:ext uri="{FF2B5EF4-FFF2-40B4-BE49-F238E27FC236}">
                <a16:creationId xmlns:a16="http://schemas.microsoft.com/office/drawing/2014/main" id="{5923433B-692E-40B5-BA5F-AC4038B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Engaged harmful-directive spillover</a:t>
            </a:r>
          </a:p>
        </p:txBody>
      </p:sp>
      <p:sp>
        <p:nvSpPr>
          <p:cNvPr id="21" name="F1_R1_C3_Row2">
            <a:extLst xmlns:a="http://schemas.openxmlformats.org/drawingml/2006/main">
              <a:ext uri="{FF2B5EF4-FFF2-40B4-BE49-F238E27FC236}">
                <a16:creationId xmlns:a16="http://schemas.microsoft.com/office/drawing/2014/main" id="{4524C38F-F7D8-496D-8EC1-C4215694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01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Gift: +2.063 welfare</a:t>
            </a:r>
          </a:p>
        </p:txBody>
      </p:sp>
      <p:sp>
        <p:nvSpPr>
          <p:cNvPr id="22" name="F1_R1_C3_Row3">
            <a:extLst xmlns:a="http://schemas.openxmlformats.org/drawingml/2006/main">
              <a:ext uri="{FF2B5EF4-FFF2-40B4-BE49-F238E27FC236}">
                <a16:creationId xmlns:a16="http://schemas.microsoft.com/office/drawing/2014/main" id="{BD7B1C15-6BD9-4E84-9580-0054C72A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733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Harmful E–E directive: H–H +0.378</a:t>
            </a:r>
          </a:p>
        </p:txBody>
      </p:sp>
      <p:sp>
        <p:nvSpPr>
          <p:cNvPr id="23" name="F1_R1_C3_Row4">
            <a:extLst xmlns:a="http://schemas.openxmlformats.org/drawingml/2006/main">
              <a:ext uri="{FF2B5EF4-FFF2-40B4-BE49-F238E27FC236}">
                <a16:creationId xmlns:a16="http://schemas.microsoft.com/office/drawing/2014/main" id="{0D504B9E-7F0F-4E87-98E4-84272A5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48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/>
            </a:pPr>
            <a:r>
              <a:rPr sz="998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Easy-only near neutral</a:t>
            </a:r>
          </a:p>
        </p:txBody>
      </p:sp>
      <p:sp>
        <p:nvSpPr>
          <p:cNvPr id="24" name="F1_R1_Arrow1">
            <a:extLst xmlns:a="http://schemas.openxmlformats.org/drawingml/2006/main">
              <a:ext uri="{FF2B5EF4-FFF2-40B4-BE49-F238E27FC236}">
                <a16:creationId xmlns:a16="http://schemas.microsoft.com/office/drawing/2014/main" id="{3BBD0F8A-58FA-45E1-867C-F0AE9B36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39900"/>
            <a:ext cx="2032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F1_R1_Arrow2">
            <a:extLst xmlns:a="http://schemas.openxmlformats.org/drawingml/2006/main">
              <a:ext uri="{FF2B5EF4-FFF2-40B4-BE49-F238E27FC236}">
                <a16:creationId xmlns:a16="http://schemas.microsoft.com/office/drawing/2014/main" id="{E09A6D47-D436-4DF2-A1A7-CFA8896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1739900"/>
            <a:ext cx="2032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F1_R2_A_Title">
            <a:extLst xmlns:a="http://schemas.openxmlformats.org/drawingml/2006/main">
              <a:ext uri="{FF2B5EF4-FFF2-40B4-BE49-F238E27FC236}">
                <a16:creationId xmlns:a16="http://schemas.microsoft.com/office/drawing/2014/main" id="{CF1B060F-3CBC-4584-B31A-8BBCA51A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2844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  H–H check circulation by public-message package</a:t>
            </a:r>
          </a:p>
        </p:txBody>
      </p:sp>
      <p:sp>
        <p:nvSpPr>
          <p:cNvPr id="27" name="F1_R2_A_Subtitle">
            <a:extLst xmlns:a="http://schemas.openxmlformats.org/drawingml/2006/main">
              <a:ext uri="{FF2B5EF4-FFF2-40B4-BE49-F238E27FC236}">
                <a16:creationId xmlns:a16="http://schemas.microsoft.com/office/drawing/2014/main" id="{E712232C-70AB-44BB-BEDC-CC7FE068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3086100"/>
            <a:ext cx="419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Mean seed-level H–H swap rate; n=14 paired population runs.</a:t>
            </a:r>
          </a:p>
        </p:txBody>
      </p:sp>
      <p:sp>
        <p:nvSpPr>
          <p:cNvPr id="28" name="F1_R2_B_Title">
            <a:extLst xmlns:a="http://schemas.openxmlformats.org/drawingml/2006/main">
              <a:ext uri="{FF2B5EF4-FFF2-40B4-BE49-F238E27FC236}">
                <a16:creationId xmlns:a16="http://schemas.microsoft.com/office/drawing/2014/main" id="{A5A732C9-EEEC-413C-83E1-477EAEB0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844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   Welfare change relative to no-recommendation neutral</a:t>
            </a:r>
          </a:p>
        </p:txBody>
      </p:sp>
      <p:sp>
        <p:nvSpPr>
          <p:cNvPr id="29" name="F1_R2_B_Subtitle">
            <a:extLst xmlns:a="http://schemas.openxmlformats.org/drawingml/2006/main">
              <a:ext uri="{FF2B5EF4-FFF2-40B4-BE49-F238E27FC236}">
                <a16:creationId xmlns:a16="http://schemas.microsoft.com/office/drawing/2014/main" id="{B671DDE3-0D9A-4094-A6FE-67D278D1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086100"/>
            <a:ext cx="419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Mean paired score difference; bars are descriptive arm summaries.</a:t>
            </a:r>
          </a:p>
        </p:txBody>
      </p:sp>
      <p:sp>
        <p:nvSpPr>
          <p:cNvPr id="32" name="F1_R2_A_Tick0">
            <a:extLst xmlns:a="http://schemas.openxmlformats.org/drawingml/2006/main">
              <a:ext uri="{FF2B5EF4-FFF2-40B4-BE49-F238E27FC236}">
                <a16:creationId xmlns:a16="http://schemas.microsoft.com/office/drawing/2014/main" id="{67272706-2510-40BC-A7BE-8D339D83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1054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34" name="F1_R2_A_Tick1">
            <a:extLst xmlns:a="http://schemas.openxmlformats.org/drawingml/2006/main">
              <a:ext uri="{FF2B5EF4-FFF2-40B4-BE49-F238E27FC236}">
                <a16:creationId xmlns:a16="http://schemas.microsoft.com/office/drawing/2014/main" id="{8837682E-41D9-4587-9161-B5616E6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325" y="51054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36" name="F1_R2_A_Tick2">
            <a:extLst xmlns:a="http://schemas.openxmlformats.org/drawingml/2006/main">
              <a:ext uri="{FF2B5EF4-FFF2-40B4-BE49-F238E27FC236}">
                <a16:creationId xmlns:a16="http://schemas.microsoft.com/office/drawing/2014/main" id="{9D288820-32B7-4FD0-A1C0-96E13316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51054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38" name="F1_R2_A_Tick3">
            <a:extLst xmlns:a="http://schemas.openxmlformats.org/drawingml/2006/main">
              <a:ext uri="{FF2B5EF4-FFF2-40B4-BE49-F238E27FC236}">
                <a16:creationId xmlns:a16="http://schemas.microsoft.com/office/drawing/2014/main" id="{A10CB1AD-6109-445B-9AA8-F38F0A0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775" y="51054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40" name="F1_R2_A_Tick4">
            <a:extLst xmlns:a="http://schemas.openxmlformats.org/drawingml/2006/main">
              <a:ext uri="{FF2B5EF4-FFF2-40B4-BE49-F238E27FC236}">
                <a16:creationId xmlns:a16="http://schemas.microsoft.com/office/drawing/2014/main" id="{3DA069AF-F35B-485C-A239-0E71F072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054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41" name="F1_R2_A_Label0">
            <a:extLst xmlns:a="http://schemas.openxmlformats.org/drawingml/2006/main">
              <a:ext uri="{FF2B5EF4-FFF2-40B4-BE49-F238E27FC236}">
                <a16:creationId xmlns:a16="http://schemas.microsoft.com/office/drawing/2014/main" id="{A53DD636-9E35-486A-B911-8D0E4745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34798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42" name="F1_R2_A_Bar0">
            <a:extLst xmlns:a="http://schemas.openxmlformats.org/drawingml/2006/main">
              <a:ext uri="{FF2B5EF4-FFF2-40B4-BE49-F238E27FC236}">
                <a16:creationId xmlns:a16="http://schemas.microsoft.com/office/drawing/2014/main" id="{75C4E7E6-D3C7-4449-A17B-91900C13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2500"/>
            <a:ext cx="75617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635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3" name="F1_R2_A_Value0">
            <a:extLst xmlns:a="http://schemas.openxmlformats.org/drawingml/2006/main">
              <a:ext uri="{FF2B5EF4-FFF2-40B4-BE49-F238E27FC236}">
                <a16:creationId xmlns:a16="http://schemas.microsoft.com/office/drawing/2014/main" id="{39811766-CF6B-4B62-B596-38B8DC0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970" y="34798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0.223</a:t>
            </a:r>
          </a:p>
        </p:txBody>
      </p:sp>
      <p:sp>
        <p:nvSpPr>
          <p:cNvPr id="44" name="F1_R2_A_Label1">
            <a:extLst xmlns:a="http://schemas.openxmlformats.org/drawingml/2006/main">
              <a:ext uri="{FF2B5EF4-FFF2-40B4-BE49-F238E27FC236}">
                <a16:creationId xmlns:a16="http://schemas.microsoft.com/office/drawing/2014/main" id="{9182CED2-1F18-4D8E-B4D5-F06C241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37211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Gift exact</a:t>
            </a:r>
          </a:p>
        </p:txBody>
      </p:sp>
      <p:sp>
        <p:nvSpPr>
          <p:cNvPr id="45" name="F1_R2_A_Bar1">
            <a:extLst xmlns:a="http://schemas.openxmlformats.org/drawingml/2006/main">
              <a:ext uri="{FF2B5EF4-FFF2-40B4-BE49-F238E27FC236}">
                <a16:creationId xmlns:a16="http://schemas.microsoft.com/office/drawing/2014/main" id="{5FA9FCBD-834B-449B-B36D-F51A2BA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814447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6350">
            <a:solidFill>
              <a:srgbClr val="14B8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6" name="F1_R2_A_Value1">
            <a:extLst xmlns:a="http://schemas.openxmlformats.org/drawingml/2006/main">
              <a:ext uri="{FF2B5EF4-FFF2-40B4-BE49-F238E27FC236}">
                <a16:creationId xmlns:a16="http://schemas.microsoft.com/office/drawing/2014/main" id="{B4419130-9A10-4CD8-A79D-6694A20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247" y="37211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0.830</a:t>
            </a:r>
          </a:p>
        </p:txBody>
      </p:sp>
      <p:sp>
        <p:nvSpPr>
          <p:cNvPr id="47" name="F1_R2_A_Label2">
            <a:extLst xmlns:a="http://schemas.openxmlformats.org/drawingml/2006/main">
              <a:ext uri="{FF2B5EF4-FFF2-40B4-BE49-F238E27FC236}">
                <a16:creationId xmlns:a16="http://schemas.microsoft.com/office/drawing/2014/main" id="{823DFB93-D254-466E-9477-7584926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39624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Easy only</a:t>
            </a:r>
          </a:p>
        </p:txBody>
      </p:sp>
      <p:sp>
        <p:nvSpPr>
          <p:cNvPr id="48" name="F1_R2_A_Bar2">
            <a:extLst xmlns:a="http://schemas.openxmlformats.org/drawingml/2006/main">
              <a:ext uri="{FF2B5EF4-FFF2-40B4-BE49-F238E27FC236}">
                <a16:creationId xmlns:a16="http://schemas.microsoft.com/office/drawing/2014/main" id="{A59E0357-38F8-4A4B-BA5A-7FEBD299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5100"/>
            <a:ext cx="803643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635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9" name="F1_R2_A_Value2">
            <a:extLst xmlns:a="http://schemas.openxmlformats.org/drawingml/2006/main">
              <a:ext uri="{FF2B5EF4-FFF2-40B4-BE49-F238E27FC236}">
                <a16:creationId xmlns:a16="http://schemas.microsoft.com/office/drawing/2014/main" id="{0EF1081E-5F36-4EAC-A994-2419CBF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443" y="39624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0.237</a:t>
            </a:r>
          </a:p>
        </p:txBody>
      </p:sp>
      <p:sp>
        <p:nvSpPr>
          <p:cNvPr id="50" name="F1_R2_A_Label3">
            <a:extLst xmlns:a="http://schemas.openxmlformats.org/drawingml/2006/main">
              <a:ext uri="{FF2B5EF4-FFF2-40B4-BE49-F238E27FC236}">
                <a16:creationId xmlns:a16="http://schemas.microsoft.com/office/drawing/2014/main" id="{4B968DCE-154A-43E5-A2F4-11B76F7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42037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Any holder</a:t>
            </a:r>
          </a:p>
        </p:txBody>
      </p:sp>
      <p:sp>
        <p:nvSpPr>
          <p:cNvPr id="51" name="F1_R2_A_Bar3">
            <a:extLst xmlns:a="http://schemas.openxmlformats.org/drawingml/2006/main">
              <a:ext uri="{FF2B5EF4-FFF2-40B4-BE49-F238E27FC236}">
                <a16:creationId xmlns:a16="http://schemas.microsoft.com/office/drawing/2014/main" id="{845A0584-6808-4624-A0C9-F643607D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6400"/>
            <a:ext cx="2983992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6350">
            <a:solidFill>
              <a:srgbClr val="14B8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2" name="F1_R2_A_Value3">
            <a:extLst xmlns:a="http://schemas.openxmlformats.org/drawingml/2006/main">
              <a:ext uri="{FF2B5EF4-FFF2-40B4-BE49-F238E27FC236}">
                <a16:creationId xmlns:a16="http://schemas.microsoft.com/office/drawing/2014/main" id="{3522AC55-2FBF-43F1-BDD0-89F55F2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2037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0.880</a:t>
            </a:r>
          </a:p>
        </p:txBody>
      </p:sp>
      <p:sp>
        <p:nvSpPr>
          <p:cNvPr id="53" name="F1_R2_A_Label4">
            <a:extLst xmlns:a="http://schemas.openxmlformats.org/drawingml/2006/main">
              <a:ext uri="{FF2B5EF4-FFF2-40B4-BE49-F238E27FC236}">
                <a16:creationId xmlns:a16="http://schemas.microsoft.com/office/drawing/2014/main" id="{E5FB4427-922D-4BA3-B483-953979F3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44450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Hard partner</a:t>
            </a:r>
          </a:p>
        </p:txBody>
      </p:sp>
      <p:sp>
        <p:nvSpPr>
          <p:cNvPr id="54" name="F1_R2_A_Bar4">
            <a:extLst xmlns:a="http://schemas.openxmlformats.org/drawingml/2006/main">
              <a:ext uri="{FF2B5EF4-FFF2-40B4-BE49-F238E27FC236}">
                <a16:creationId xmlns:a16="http://schemas.microsoft.com/office/drawing/2014/main" id="{DFC37DCF-0B12-4C16-8A2A-DFBA4465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3139973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6350">
            <a:solidFill>
              <a:srgbClr val="0D94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" name="F1_R2_A_Value4">
            <a:extLst xmlns:a="http://schemas.openxmlformats.org/drawingml/2006/main">
              <a:ext uri="{FF2B5EF4-FFF2-40B4-BE49-F238E27FC236}">
                <a16:creationId xmlns:a16="http://schemas.microsoft.com/office/drawing/2014/main" id="{CFC71465-5152-4212-8BFC-AE1442F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73" y="44450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0.926</a:t>
            </a:r>
          </a:p>
        </p:txBody>
      </p:sp>
      <p:sp>
        <p:nvSpPr>
          <p:cNvPr id="56" name="F1_R2_A_Label5">
            <a:extLst xmlns:a="http://schemas.openxmlformats.org/drawingml/2006/main">
              <a:ext uri="{FF2B5EF4-FFF2-40B4-BE49-F238E27FC236}">
                <a16:creationId xmlns:a16="http://schemas.microsoft.com/office/drawing/2014/main" id="{B944D7E1-3159-4F00-A533-A704AD37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46863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Money exact</a:t>
            </a:r>
          </a:p>
        </p:txBody>
      </p:sp>
      <p:sp>
        <p:nvSpPr>
          <p:cNvPr id="57" name="F1_R2_A_Bar5">
            <a:extLst xmlns:a="http://schemas.openxmlformats.org/drawingml/2006/main">
              <a:ext uri="{FF2B5EF4-FFF2-40B4-BE49-F238E27FC236}">
                <a16:creationId xmlns:a16="http://schemas.microsoft.com/office/drawing/2014/main" id="{59D4937A-62ED-476D-9F33-B845073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9000"/>
            <a:ext cx="56628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6350">
            <a:solidFill>
              <a:srgbClr val="F0A4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8" name="F1_R2_A_Value5">
            <a:extLst xmlns:a="http://schemas.openxmlformats.org/drawingml/2006/main">
              <a:ext uri="{FF2B5EF4-FFF2-40B4-BE49-F238E27FC236}">
                <a16:creationId xmlns:a16="http://schemas.microsoft.com/office/drawing/2014/main" id="{80B2E9A0-1D9A-40B1-B166-7EEED16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80" y="46863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0.167</a:t>
            </a:r>
          </a:p>
        </p:txBody>
      </p:sp>
      <p:sp>
        <p:nvSpPr>
          <p:cNvPr id="59" name="F1_R2_A_Label6">
            <a:extLst xmlns:a="http://schemas.openxmlformats.org/drawingml/2006/main">
              <a:ext uri="{FF2B5EF4-FFF2-40B4-BE49-F238E27FC236}">
                <a16:creationId xmlns:a16="http://schemas.microsoft.com/office/drawing/2014/main" id="{0A341E24-FD84-440B-BE89-1581ED4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4927600"/>
            <a:ext cx="6604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Harmful E–E</a:t>
            </a:r>
          </a:p>
        </p:txBody>
      </p:sp>
      <p:sp>
        <p:nvSpPr>
          <p:cNvPr id="60" name="F1_R2_A_Bar6">
            <a:extLst xmlns:a="http://schemas.openxmlformats.org/drawingml/2006/main">
              <a:ext uri="{FF2B5EF4-FFF2-40B4-BE49-F238E27FC236}">
                <a16:creationId xmlns:a16="http://schemas.microsoft.com/office/drawing/2014/main" id="{A67B69EB-3BC1-452A-AF81-ED278D76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0300"/>
            <a:ext cx="2034539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6350">
            <a:solidFill>
              <a:srgbClr val="EF444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1" name="F1_R2_A_Value6">
            <a:extLst xmlns:a="http://schemas.openxmlformats.org/drawingml/2006/main">
              <a:ext uri="{FF2B5EF4-FFF2-40B4-BE49-F238E27FC236}">
                <a16:creationId xmlns:a16="http://schemas.microsoft.com/office/drawing/2014/main" id="{41CEF202-E59C-4ABF-B8D1-6CBFDB2A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927600"/>
            <a:ext cx="3810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0.600</a:t>
            </a:r>
          </a:p>
        </p:txBody>
      </p:sp>
      <p:sp>
        <p:nvSpPr>
          <p:cNvPr id="63" name="F1_R2_B_Tick0">
            <a:extLst xmlns:a="http://schemas.openxmlformats.org/drawingml/2006/main">
              <a:ext uri="{FF2B5EF4-FFF2-40B4-BE49-F238E27FC236}">
                <a16:creationId xmlns:a16="http://schemas.microsoft.com/office/drawing/2014/main" id="{C8758B44-5590-4DA4-80F9-D30C852D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903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−0.25</a:t>
            </a:r>
          </a:p>
        </p:txBody>
      </p:sp>
      <p:sp>
        <p:nvSpPr>
          <p:cNvPr id="65" name="F1_R2_B_Tick1">
            <a:extLst xmlns:a="http://schemas.openxmlformats.org/drawingml/2006/main">
              <a:ext uri="{FF2B5EF4-FFF2-40B4-BE49-F238E27FC236}">
                <a16:creationId xmlns:a16="http://schemas.microsoft.com/office/drawing/2014/main" id="{DBF6F534-D6C9-4D0B-AFE4-B99A01DE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46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0.00</a:t>
            </a:r>
          </a:p>
        </p:txBody>
      </p:sp>
      <p:sp>
        <p:nvSpPr>
          <p:cNvPr id="67" name="F1_R2_B_Tick2">
            <a:extLst xmlns:a="http://schemas.openxmlformats.org/drawingml/2006/main">
              <a:ext uri="{FF2B5EF4-FFF2-40B4-BE49-F238E27FC236}">
                <a16:creationId xmlns:a16="http://schemas.microsoft.com/office/drawing/2014/main" id="{12993FE5-84E6-43C3-8379-3C7F069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734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0.50</a:t>
            </a:r>
          </a:p>
        </p:txBody>
      </p:sp>
      <p:sp>
        <p:nvSpPr>
          <p:cNvPr id="69" name="F1_R2_B_Tick3">
            <a:extLst xmlns:a="http://schemas.openxmlformats.org/drawingml/2006/main">
              <a:ext uri="{FF2B5EF4-FFF2-40B4-BE49-F238E27FC236}">
                <a16:creationId xmlns:a16="http://schemas.microsoft.com/office/drawing/2014/main" id="{018930AE-6A76-453B-BAEA-89F7075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621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1.00</a:t>
            </a:r>
          </a:p>
        </p:txBody>
      </p:sp>
      <p:sp>
        <p:nvSpPr>
          <p:cNvPr id="71" name="F1_R2_B_Tick4">
            <a:extLst xmlns:a="http://schemas.openxmlformats.org/drawingml/2006/main">
              <a:ext uri="{FF2B5EF4-FFF2-40B4-BE49-F238E27FC236}">
                <a16:creationId xmlns:a16="http://schemas.microsoft.com/office/drawing/2014/main" id="{D5F77838-9973-4AE0-9192-187D8C45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509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1.50</a:t>
            </a:r>
          </a:p>
        </p:txBody>
      </p:sp>
      <p:sp>
        <p:nvSpPr>
          <p:cNvPr id="73" name="F1_R2_B_Tick5">
            <a:extLst xmlns:a="http://schemas.openxmlformats.org/drawingml/2006/main">
              <a:ext uri="{FF2B5EF4-FFF2-40B4-BE49-F238E27FC236}">
                <a16:creationId xmlns:a16="http://schemas.microsoft.com/office/drawing/2014/main" id="{6F9AD6B4-BCAD-4F53-AB66-01A30A6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396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/>
            </a:pPr>
            <a:r>
              <a:rPr sz="660"/>
              <a:t>2.00</a:t>
            </a:r>
          </a:p>
        </p:txBody>
      </p:sp>
      <p:sp>
        <p:nvSpPr>
          <p:cNvPr id="74" name="F1_R2_B_Label0">
            <a:extLst xmlns:a="http://schemas.openxmlformats.org/drawingml/2006/main">
              <a:ext uri="{FF2B5EF4-FFF2-40B4-BE49-F238E27FC236}">
                <a16:creationId xmlns:a16="http://schemas.microsoft.com/office/drawing/2014/main" id="{6B437351-BA7B-4741-B39A-5FE9CE38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798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75" name="F1_R2_B_Bar0">
            <a:extLst xmlns:a="http://schemas.openxmlformats.org/drawingml/2006/main">
              <a:ext uri="{FF2B5EF4-FFF2-40B4-BE49-F238E27FC236}">
                <a16:creationId xmlns:a16="http://schemas.microsoft.com/office/drawing/2014/main" id="{60D197A5-E3F6-46EB-B32F-E9F51515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3492500"/>
            <a:ext cx="10478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6350">
            <a:solidFill>
              <a:srgbClr val="6474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6" name="F1_R2_B_Value0">
            <a:extLst xmlns:a="http://schemas.openxmlformats.org/drawingml/2006/main">
              <a:ext uri="{FF2B5EF4-FFF2-40B4-BE49-F238E27FC236}">
                <a16:creationId xmlns:a16="http://schemas.microsoft.com/office/drawing/2014/main" id="{FDF461C2-6458-40F3-A4C8-0C7D5B5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349" y="3479800"/>
            <a:ext cx="4095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+0.000</a:t>
            </a:r>
          </a:p>
        </p:txBody>
      </p:sp>
      <p:sp>
        <p:nvSpPr>
          <p:cNvPr id="77" name="F1_R2_B_Label1">
            <a:extLst xmlns:a="http://schemas.openxmlformats.org/drawingml/2006/main">
              <a:ext uri="{FF2B5EF4-FFF2-40B4-BE49-F238E27FC236}">
                <a16:creationId xmlns:a16="http://schemas.microsoft.com/office/drawing/2014/main" id="{7C17BEF8-5B33-4907-9F65-BC4A2F50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11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Gift exact</a:t>
            </a:r>
          </a:p>
        </p:txBody>
      </p:sp>
      <p:sp>
        <p:nvSpPr>
          <p:cNvPr id="78" name="F1_R2_B_Bar1">
            <a:extLst xmlns:a="http://schemas.openxmlformats.org/drawingml/2006/main">
              <a:ext uri="{FF2B5EF4-FFF2-40B4-BE49-F238E27FC236}">
                <a16:creationId xmlns:a16="http://schemas.microsoft.com/office/drawing/2014/main" id="{BDB03078-F94F-4960-A853-1936A82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3733800"/>
            <a:ext cx="2573536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6350">
            <a:solidFill>
              <a:srgbClr val="14B8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9" name="F1_R2_B_Value1">
            <a:extLst xmlns:a="http://schemas.openxmlformats.org/drawingml/2006/main">
              <a:ext uri="{FF2B5EF4-FFF2-40B4-BE49-F238E27FC236}">
                <a16:creationId xmlns:a16="http://schemas.microsoft.com/office/drawing/2014/main" id="{0ED23FF7-5609-44FA-9E6F-236CD1C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07" y="3721100"/>
            <a:ext cx="4095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+2.063</a:t>
            </a:r>
          </a:p>
        </p:txBody>
      </p:sp>
      <p:sp>
        <p:nvSpPr>
          <p:cNvPr id="80" name="F1_R2_B_Label2">
            <a:extLst xmlns:a="http://schemas.openxmlformats.org/drawingml/2006/main">
              <a:ext uri="{FF2B5EF4-FFF2-40B4-BE49-F238E27FC236}">
                <a16:creationId xmlns:a16="http://schemas.microsoft.com/office/drawing/2014/main" id="{81B595AE-B434-41A1-A7A3-85A1317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624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Easy only</a:t>
            </a:r>
          </a:p>
        </p:txBody>
      </p:sp>
      <p:sp>
        <p:nvSpPr>
          <p:cNvPr id="81" name="F1_R2_B_Bar2">
            <a:extLst xmlns:a="http://schemas.openxmlformats.org/drawingml/2006/main">
              <a:ext uri="{FF2B5EF4-FFF2-40B4-BE49-F238E27FC236}">
                <a16:creationId xmlns:a16="http://schemas.microsoft.com/office/drawing/2014/main" id="{DD8AAE2F-D60D-40E6-AB16-7F1F5BE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447" y="3975100"/>
            <a:ext cx="61275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6350">
            <a:solidFill>
              <a:srgbClr val="94A3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2" name="F1_R2_B_Value2">
            <a:extLst xmlns:a="http://schemas.openxmlformats.org/drawingml/2006/main">
              <a:ext uri="{FF2B5EF4-FFF2-40B4-BE49-F238E27FC236}">
                <a16:creationId xmlns:a16="http://schemas.microsoft.com/office/drawing/2014/main" id="{5D13E2DE-0F61-4836-9D2A-FAD19E7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62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−0.049</a:t>
            </a:r>
          </a:p>
        </p:txBody>
      </p:sp>
      <p:sp>
        <p:nvSpPr>
          <p:cNvPr id="83" name="F1_R2_B_Label3">
            <a:extLst xmlns:a="http://schemas.openxmlformats.org/drawingml/2006/main">
              <a:ext uri="{FF2B5EF4-FFF2-40B4-BE49-F238E27FC236}">
                <a16:creationId xmlns:a16="http://schemas.microsoft.com/office/drawing/2014/main" id="{FEE6BC26-E1C8-4FEB-8DBB-2D75EEB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037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Any holder</a:t>
            </a:r>
          </a:p>
        </p:txBody>
      </p:sp>
      <p:sp>
        <p:nvSpPr>
          <p:cNvPr id="84" name="F1_R2_B_Bar3">
            <a:extLst xmlns:a="http://schemas.openxmlformats.org/drawingml/2006/main">
              <a:ext uri="{FF2B5EF4-FFF2-40B4-BE49-F238E27FC236}">
                <a16:creationId xmlns:a16="http://schemas.microsoft.com/office/drawing/2014/main" id="{8A60C9B7-113B-4873-BB22-7DAF419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4216400"/>
            <a:ext cx="2456557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6350">
            <a:solidFill>
              <a:srgbClr val="14B8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5" name="F1_R2_B_Value3">
            <a:extLst xmlns:a="http://schemas.openxmlformats.org/drawingml/2006/main">
              <a:ext uri="{FF2B5EF4-FFF2-40B4-BE49-F238E27FC236}">
                <a16:creationId xmlns:a16="http://schemas.microsoft.com/office/drawing/2014/main" id="{B40898B3-CFC0-4043-BB4C-6A724E3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429" y="4203700"/>
            <a:ext cx="4095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+1.969</a:t>
            </a:r>
          </a:p>
        </p:txBody>
      </p:sp>
      <p:sp>
        <p:nvSpPr>
          <p:cNvPr id="86" name="F1_R2_B_Label4">
            <a:extLst xmlns:a="http://schemas.openxmlformats.org/drawingml/2006/main">
              <a:ext uri="{FF2B5EF4-FFF2-40B4-BE49-F238E27FC236}">
                <a16:creationId xmlns:a16="http://schemas.microsoft.com/office/drawing/2014/main" id="{FEF87FB7-1211-449E-8491-DC8800D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450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Hard partner</a:t>
            </a:r>
          </a:p>
        </p:txBody>
      </p:sp>
      <p:sp>
        <p:nvSpPr>
          <p:cNvPr id="87" name="F1_R2_B_Bar4">
            <a:extLst xmlns:a="http://schemas.openxmlformats.org/drawingml/2006/main">
              <a:ext uri="{FF2B5EF4-FFF2-40B4-BE49-F238E27FC236}">
                <a16:creationId xmlns:a16="http://schemas.microsoft.com/office/drawing/2014/main" id="{E57166B2-1E67-41D6-AB93-D4FCF6E2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4457700"/>
            <a:ext cx="3002459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6350">
            <a:solidFill>
              <a:srgbClr val="0D94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8" name="F1_R2_B_Value4">
            <a:extLst xmlns:a="http://schemas.openxmlformats.org/drawingml/2006/main">
              <a:ext uri="{FF2B5EF4-FFF2-40B4-BE49-F238E27FC236}">
                <a16:creationId xmlns:a16="http://schemas.microsoft.com/office/drawing/2014/main" id="{F27BA245-992E-4F84-9854-3F5A9B0E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930" y="4445000"/>
            <a:ext cx="4095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+2.406</a:t>
            </a:r>
          </a:p>
        </p:txBody>
      </p:sp>
      <p:sp>
        <p:nvSpPr>
          <p:cNvPr id="89" name="F1_R2_B_Label5">
            <a:extLst xmlns:a="http://schemas.openxmlformats.org/drawingml/2006/main">
              <a:ext uri="{FF2B5EF4-FFF2-40B4-BE49-F238E27FC236}">
                <a16:creationId xmlns:a16="http://schemas.microsoft.com/office/drawing/2014/main" id="{B8A5EB99-02EE-404A-ADB9-B518F7AA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63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Money exact</a:t>
            </a:r>
          </a:p>
        </p:txBody>
      </p:sp>
      <p:sp>
        <p:nvSpPr>
          <p:cNvPr id="90" name="F1_R2_B_Bar5">
            <a:extLst xmlns:a="http://schemas.openxmlformats.org/drawingml/2006/main">
              <a:ext uri="{FF2B5EF4-FFF2-40B4-BE49-F238E27FC236}">
                <a16:creationId xmlns:a16="http://schemas.microsoft.com/office/drawing/2014/main" id="{04C49807-57DD-4495-8421-4F8CC956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482" y="4699000"/>
            <a:ext cx="25624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6350">
            <a:solidFill>
              <a:srgbClr val="F0A4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1" name="F1_R2_B_Value5">
            <a:extLst xmlns:a="http://schemas.openxmlformats.org/drawingml/2006/main">
              <a:ext uri="{FF2B5EF4-FFF2-40B4-BE49-F238E27FC236}">
                <a16:creationId xmlns:a16="http://schemas.microsoft.com/office/drawing/2014/main" id="{D343607C-9E1D-4A20-982A-1506236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863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−0.205</a:t>
            </a:r>
          </a:p>
        </p:txBody>
      </p:sp>
      <p:sp>
        <p:nvSpPr>
          <p:cNvPr id="92" name="F1_R2_B_Label6">
            <a:extLst xmlns:a="http://schemas.openxmlformats.org/drawingml/2006/main">
              <a:ext uri="{FF2B5EF4-FFF2-40B4-BE49-F238E27FC236}">
                <a16:creationId xmlns:a16="http://schemas.microsoft.com/office/drawing/2014/main" id="{CD6456BF-090A-4F0F-87F6-02F016B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27600"/>
            <a:ext cx="685800" cy="13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Harmful E–E</a:t>
            </a:r>
          </a:p>
        </p:txBody>
      </p:sp>
      <p:sp>
        <p:nvSpPr>
          <p:cNvPr id="93" name="F1_R2_B_Bar6">
            <a:extLst xmlns:a="http://schemas.openxmlformats.org/drawingml/2006/main">
              <a:ext uri="{FF2B5EF4-FFF2-40B4-BE49-F238E27FC236}">
                <a16:creationId xmlns:a16="http://schemas.microsoft.com/office/drawing/2014/main" id="{F1360701-77B1-4690-AD21-4B5D635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4940300"/>
            <a:ext cx="233958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6350">
            <a:solidFill>
              <a:srgbClr val="EF444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4" name="F1_R2_B_Value6">
            <a:extLst xmlns:a="http://schemas.openxmlformats.org/drawingml/2006/main">
              <a:ext uri="{FF2B5EF4-FFF2-40B4-BE49-F238E27FC236}">
                <a16:creationId xmlns:a16="http://schemas.microsoft.com/office/drawing/2014/main" id="{556147E2-F9C1-4979-AA49-524D6DF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829" y="4927600"/>
            <a:ext cx="4095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03E68"/>
                </a:solidFill>
              </a:defRPr>
            </a:pPr>
            <a:r>
              <a:rPr sz="788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+0.188</a:t>
            </a:r>
          </a:p>
        </p:txBody>
      </p:sp>
      <p:sp>
        <p:nvSpPr>
          <p:cNvPr id="95" name="F1_R3_NoteBox">
            <a:extLst xmlns:a="http://schemas.openxmlformats.org/drawingml/2006/main">
              <a:ext uri="{FF2B5EF4-FFF2-40B4-BE49-F238E27FC236}">
                <a16:creationId xmlns:a16="http://schemas.microsoft.com/office/drawing/2014/main" id="{B7C4A653-BC70-4847-8CF4-A3B4F157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5461000"/>
            <a:ext cx="86360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6350">
            <a:solidFill>
              <a:srgbClr val="F59E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6" name="F1_R3_Note1">
            <a:extLst xmlns:a="http://schemas.openxmlformats.org/drawingml/2006/main">
              <a:ext uri="{FF2B5EF4-FFF2-40B4-BE49-F238E27FC236}">
                <a16:creationId xmlns:a16="http://schemas.microsoft.com/office/drawing/2014/main" id="{A682AF00-AE0E-4B4E-B047-E7B2EB3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62600"/>
            <a:ext cx="8382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Manipulation check: harmful E–E swaps execute in 113/114 meetings. Exact money has no executed named sales.</a:t>
            </a:r>
          </a:p>
        </p:txBody>
      </p:sp>
      <p:sp>
        <p:nvSpPr>
          <p:cNvPr id="97" name="F1_R3_Note2">
            <a:extLst xmlns:a="http://schemas.openxmlformats.org/drawingml/2006/main">
              <a:ext uri="{FF2B5EF4-FFF2-40B4-BE49-F238E27FC236}">
                <a16:creationId xmlns:a16="http://schemas.microsoft.com/office/drawing/2014/main" id="{47AE77B0-DDDA-40B0-9A3E-E521DAEC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78500"/>
            <a:ext cx="8382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F355C"/>
                </a:solidFill>
                <a:latin typeface="Arial"/>
                <a:ea typeface="Arial"/>
                <a:cs typeface="Arial"/>
              </a:rPr>
              <a:t>Interpretation: engagement, execution, and welfare are distinct. Easy-only does not isolate actor-exclusivity semantics.</a:t>
            </a:r>
          </a:p>
        </p:txBody>
      </p:sp>
      <p:sp>
        <p:nvSpPr>
          <p:cNvPr id="98" name="F1_R2_B_Tick6">
            <a:extLst xmlns:a="http://schemas.openxmlformats.org/drawingml/2006/main">
              <a:ext uri="{FF2B5EF4-FFF2-40B4-BE49-F238E27FC236}">
                <a16:creationId xmlns:a16="http://schemas.microsoft.com/office/drawing/2014/main" id="{C5E0DA51-78AF-47BD-8EE9-342F6FDD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284" y="5105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/>
            </a:pPr>
            <a:r>
              <a:rPr sz="660">
                <a:solidFill>
                  <a:srgbClr val="334155"/>
                </a:solidFill>
                <a:latin typeface="Arial"/>
                <a:ea typeface="Arial"/>
                <a:cs typeface="Arial"/>
              </a:rPr>
              <a:t>2.50</a:t>
            </a:r>
          </a:p>
        </p:txBody>
      </p:sp>
      <p:sp>
        <p:nvSpPr>
          <p:cNvPr id="99" name="F1_R2_B_ZeroAxis">
            <a:extLst xmlns:a="http://schemas.openxmlformats.org/drawingml/2006/main">
              <a:ext uri="{FF2B5EF4-FFF2-40B4-BE49-F238E27FC236}">
                <a16:creationId xmlns:a16="http://schemas.microsoft.com/office/drawing/2014/main" id="{40188AAD-D826-41F9-AF28-E0489D7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21" y="3400425"/>
            <a:ext cx="0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7890A5"/>
            </a:solidFill>
          </a:ln>
        </p:spPr>
      </p:sp>
    </p:spTree>
    <p:extLst>
      <p:ext uri="{BB962C8B-B14F-4D97-AF65-F5344CB8AC3E}">
        <p14:creationId xmlns:p14="http://schemas.microsoft.com/office/powerpoint/2010/main" val="605033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2_A_Title">
            <a:extLst xmlns:a="http://schemas.openxmlformats.org/drawingml/2006/main">
              <a:ext uri="{FF2B5EF4-FFF2-40B4-BE49-F238E27FC236}">
                <a16:creationId xmlns:a16="http://schemas.microsoft.com/office/drawing/2014/main" id="{69A16D3F-1A64-4C72-A633-D4C4DE2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9400"/>
            <a:ext cx="393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  STANDARD–GIFT TRACE</a:t>
            </a:r>
          </a:p>
        </p:txBody>
      </p:sp>
      <p:sp>
        <p:nvSpPr>
          <p:cNvPr id="3" name="F2_A_Message">
            <a:extLst xmlns:a="http://schemas.openxmlformats.org/drawingml/2006/main">
              <a:ext uri="{FF2B5EF4-FFF2-40B4-BE49-F238E27FC236}">
                <a16:creationId xmlns:a16="http://schemas.microsoft.com/office/drawing/2014/main" id="{3C95A357-2FA4-4BF4-9BFD-25B5A2D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622300"/>
            <a:ext cx="1625600" cy="48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E3A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Public gift message:</a:t>
            </a:r>
          </a:p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Easy gives to Hard</a:t>
            </a:r>
          </a:p>
        </p:txBody>
      </p:sp>
      <p:sp>
        <p:nvSpPr>
          <p:cNvPr id="4" name="F2_A_BranchLeft">
            <a:extLst xmlns:a="http://schemas.openxmlformats.org/drawingml/2006/main">
              <a:ext uri="{FF2B5EF4-FFF2-40B4-BE49-F238E27FC236}">
                <a16:creationId xmlns:a16="http://schemas.microsoft.com/office/drawing/2014/main" id="{89256D41-79C9-4DA2-A639-62F11AE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49600" y="927100"/>
            <a:ext cx="52070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F2_A_BranchRight">
            <a:extLst xmlns:a="http://schemas.openxmlformats.org/drawingml/2006/main">
              <a:ext uri="{FF2B5EF4-FFF2-40B4-BE49-F238E27FC236}">
                <a16:creationId xmlns:a16="http://schemas.microsoft.com/office/drawing/2014/main" id="{01278B57-3B7E-46CB-BD10-DF7E7E10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927100"/>
            <a:ext cx="48260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F2_A_LeftTitle">
            <a:extLst xmlns:a="http://schemas.openxmlformats.org/drawingml/2006/main">
              <a:ext uri="{FF2B5EF4-FFF2-40B4-BE49-F238E27FC236}">
                <a16:creationId xmlns:a16="http://schemas.microsoft.com/office/drawing/2014/main" id="{C0702686-83FB-4FE0-BA29-0A8BF28F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1308100"/>
            <a:ext cx="20955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5B21B6"/>
                </a:solidFill>
                <a:latin typeface="Arial"/>
                <a:ea typeface="Arial"/>
                <a:cs typeface="Arial"/>
              </a:rPr>
              <a:t>Named E→H candidate path</a:t>
            </a:r>
          </a:p>
        </p:txBody>
      </p:sp>
      <p:sp>
        <p:nvSpPr>
          <p:cNvPr id="8" name="F2_A_LeftCount">
            <a:extLst xmlns:a="http://schemas.openxmlformats.org/drawingml/2006/main">
              <a:ext uri="{FF2B5EF4-FFF2-40B4-BE49-F238E27FC236}">
                <a16:creationId xmlns:a16="http://schemas.microsoft.com/office/drawing/2014/main" id="{B05499FB-3BB7-432B-8B79-B9F9C97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62100"/>
            <a:ext cx="158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334E73"/>
                </a:solidFill>
                <a:latin typeface="Arial"/>
                <a:ea typeface="Arial"/>
                <a:cs typeface="Arial"/>
              </a:rPr>
              <a:t>26 feasible intentions</a:t>
            </a:r>
          </a:p>
        </p:txBody>
      </p:sp>
      <p:sp>
        <p:nvSpPr>
          <p:cNvPr id="9" name="F2_A_E">
            <a:extLst xmlns:a="http://schemas.openxmlformats.org/drawingml/2006/main">
              <a:ext uri="{FF2B5EF4-FFF2-40B4-BE49-F238E27FC236}">
                <a16:creationId xmlns:a16="http://schemas.microsoft.com/office/drawing/2014/main" id="{4D6C380E-F98F-4815-B7C1-CB61A0B6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6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E1B8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0" name="F2_A_H1">
            <a:extLst xmlns:a="http://schemas.openxmlformats.org/drawingml/2006/main">
              <a:ext uri="{FF2B5EF4-FFF2-40B4-BE49-F238E27FC236}">
                <a16:creationId xmlns:a16="http://schemas.microsoft.com/office/drawing/2014/main" id="{CBCE4320-CF8F-4F28-A2D6-DEB4C61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E1B8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" name="F2_A_NamedGift">
            <a:extLst xmlns:a="http://schemas.openxmlformats.org/drawingml/2006/main">
              <a:ext uri="{FF2B5EF4-FFF2-40B4-BE49-F238E27FC236}">
                <a16:creationId xmlns:a16="http://schemas.microsoft.com/office/drawing/2014/main" id="{949A966B-7263-497C-938C-5B832F6B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1968500"/>
            <a:ext cx="14224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6D28D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F2_A_NamedLabel">
            <a:extLst xmlns:a="http://schemas.openxmlformats.org/drawingml/2006/main">
              <a:ext uri="{FF2B5EF4-FFF2-40B4-BE49-F238E27FC236}">
                <a16:creationId xmlns:a16="http://schemas.microsoft.com/office/drawing/2014/main" id="{64820DF6-05FB-4595-871E-FE04023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1739900"/>
            <a:ext cx="9525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named by message</a:t>
            </a:r>
          </a:p>
        </p:txBody>
      </p:sp>
      <p:sp>
        <p:nvSpPr>
          <p:cNvPr id="13" name="F2_A_Reciprocal">
            <a:extLst xmlns:a="http://schemas.openxmlformats.org/drawingml/2006/main">
              <a:ext uri="{FF2B5EF4-FFF2-40B4-BE49-F238E27FC236}">
                <a16:creationId xmlns:a16="http://schemas.microsoft.com/office/drawing/2014/main" id="{A0C9E793-6600-4DDE-9D38-E6163532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89200" y="2159000"/>
            <a:ext cx="14224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F2_A_ReciprocalLabel">
            <a:extLst xmlns:a="http://schemas.openxmlformats.org/drawingml/2006/main">
              <a:ext uri="{FF2B5EF4-FFF2-40B4-BE49-F238E27FC236}">
                <a16:creationId xmlns:a16="http://schemas.microsoft.com/office/drawing/2014/main" id="{C677F940-0EB1-4247-9E19-DD44F92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2184400"/>
            <a:ext cx="1117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334E73"/>
                </a:solidFill>
                <a:latin typeface="Arial"/>
                <a:ea typeface="Arial"/>
                <a:cs typeface="Arial"/>
              </a:rPr>
              <a:t>25 reciprocal swaps</a:t>
            </a:r>
          </a:p>
        </p:txBody>
      </p:sp>
      <p:sp>
        <p:nvSpPr>
          <p:cNvPr id="15" name="F2_A_OneWay">
            <a:extLst xmlns:a="http://schemas.openxmlformats.org/drawingml/2006/main">
              <a:ext uri="{FF2B5EF4-FFF2-40B4-BE49-F238E27FC236}">
                <a16:creationId xmlns:a16="http://schemas.microsoft.com/office/drawing/2014/main" id="{564AD35D-384B-422B-A132-A5F43AC5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451100"/>
            <a:ext cx="1270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334E73"/>
                </a:solidFill>
                <a:latin typeface="Arial"/>
                <a:ea typeface="Arial"/>
                <a:cs typeface="Arial"/>
              </a:rPr>
              <a:t>1 realized one-way gift</a:t>
            </a:r>
          </a:p>
        </p:txBody>
      </p:sp>
      <p:sp>
        <p:nvSpPr>
          <p:cNvPr id="17" name="F2_A_RightTitle">
            <a:extLst xmlns:a="http://schemas.openxmlformats.org/drawingml/2006/main">
              <a:ext uri="{FF2B5EF4-FFF2-40B4-BE49-F238E27FC236}">
                <a16:creationId xmlns:a16="http://schemas.microsoft.com/office/drawing/2014/main" id="{85DF3822-B350-4F36-B444-123FBEC4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0" y="1308100"/>
            <a:ext cx="1778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Unmentioned H↔H path</a:t>
            </a:r>
          </a:p>
        </p:txBody>
      </p:sp>
      <p:sp>
        <p:nvSpPr>
          <p:cNvPr id="18" name="F2_A_RightCount">
            <a:extLst xmlns:a="http://schemas.openxmlformats.org/drawingml/2006/main">
              <a:ext uri="{FF2B5EF4-FFF2-40B4-BE49-F238E27FC236}">
                <a16:creationId xmlns:a16="http://schemas.microsoft.com/office/drawing/2014/main" id="{14ACF26E-52F3-4A4A-BB6F-952CDEDF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74800"/>
            <a:ext cx="165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334E73"/>
                </a:solidFill>
                <a:latin typeface="Arial"/>
                <a:ea typeface="Arial"/>
                <a:cs typeface="Arial"/>
              </a:rPr>
              <a:t>83 swaps / 107 meetings</a:t>
            </a:r>
          </a:p>
        </p:txBody>
      </p:sp>
      <p:sp>
        <p:nvSpPr>
          <p:cNvPr id="19" name="F2_A_H2">
            <a:extLst xmlns:a="http://schemas.openxmlformats.org/drawingml/2006/main">
              <a:ext uri="{FF2B5EF4-FFF2-40B4-BE49-F238E27FC236}">
                <a16:creationId xmlns:a16="http://schemas.microsoft.com/office/drawing/2014/main" id="{E990FF64-F9CF-4491-9284-225EFDCD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1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E1B8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" name="F2_A_H3">
            <a:extLst xmlns:a="http://schemas.openxmlformats.org/drawingml/2006/main">
              <a:ext uri="{FF2B5EF4-FFF2-40B4-BE49-F238E27FC236}">
                <a16:creationId xmlns:a16="http://schemas.microsoft.com/office/drawing/2014/main" id="{A0B6D8FB-924C-4E3D-8CB1-AE24C807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181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E1B8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1" name="F2_A_HH">
            <a:extLst xmlns:a="http://schemas.openxmlformats.org/drawingml/2006/main">
              <a:ext uri="{FF2B5EF4-FFF2-40B4-BE49-F238E27FC236}">
                <a16:creationId xmlns:a16="http://schemas.microsoft.com/office/drawing/2014/main" id="{F13A9024-0462-4CE5-8238-26109A9C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032000"/>
            <a:ext cx="711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F8B8D"/>
            </a:solidFill>
            <a:prstDash val="solid"/>
            <a:headEnd type="triangl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F2_A_HHLabel">
            <a:extLst xmlns:a="http://schemas.openxmlformats.org/drawingml/2006/main">
              <a:ext uri="{FF2B5EF4-FFF2-40B4-BE49-F238E27FC236}">
                <a16:creationId xmlns:a16="http://schemas.microsoft.com/office/drawing/2014/main" id="{7160B769-B7DC-4AB1-8A3E-3BE2DE0F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700" y="2298700"/>
            <a:ext cx="101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unmentioned H–H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circulation</a:t>
            </a:r>
          </a:p>
        </p:txBody>
      </p:sp>
      <p:sp>
        <p:nvSpPr>
          <p:cNvPr id="23" name="F2_A_Separator">
            <a:extLst xmlns:a="http://schemas.openxmlformats.org/drawingml/2006/main">
              <a:ext uri="{FF2B5EF4-FFF2-40B4-BE49-F238E27FC236}">
                <a16:creationId xmlns:a16="http://schemas.microsoft.com/office/drawing/2014/main" id="{3A26D050-DCE7-46EB-837B-586C8C6E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2100"/>
            <a:ext cx="67056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BD5E1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F2_A_LBorderT">
            <a:extLst xmlns:a="http://schemas.openxmlformats.org/drawingml/2006/main">
              <a:ext uri="{FF2B5EF4-FFF2-40B4-BE49-F238E27FC236}">
                <a16:creationId xmlns:a16="http://schemas.microsoft.com/office/drawing/2014/main" id="{28D42157-D6D2-4224-95C4-64A88243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44600"/>
            <a:ext cx="27559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F2_A_LBorderB">
            <a:extLst xmlns:a="http://schemas.openxmlformats.org/drawingml/2006/main">
              <a:ext uri="{FF2B5EF4-FFF2-40B4-BE49-F238E27FC236}">
                <a16:creationId xmlns:a16="http://schemas.microsoft.com/office/drawing/2014/main" id="{033A4696-212F-4E21-B6D9-3D713B2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27559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F2_A_LBorderL">
            <a:extLst xmlns:a="http://schemas.openxmlformats.org/drawingml/2006/main">
              <a:ext uri="{FF2B5EF4-FFF2-40B4-BE49-F238E27FC236}">
                <a16:creationId xmlns:a16="http://schemas.microsoft.com/office/drawing/2014/main" id="{D77A85BF-9BA7-4C95-BB7E-87EBABB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44600"/>
            <a:ext cx="0" cy="1422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F2_A_LBorderR">
            <a:extLst xmlns:a="http://schemas.openxmlformats.org/drawingml/2006/main">
              <a:ext uri="{FF2B5EF4-FFF2-40B4-BE49-F238E27FC236}">
                <a16:creationId xmlns:a16="http://schemas.microsoft.com/office/drawing/2014/main" id="{54ABE84D-4C23-4976-BD0A-7CAD790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1244600"/>
            <a:ext cx="0" cy="1422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F2_A_RBorderT">
            <a:extLst xmlns:a="http://schemas.openxmlformats.org/drawingml/2006/main">
              <a:ext uri="{FF2B5EF4-FFF2-40B4-BE49-F238E27FC236}">
                <a16:creationId xmlns:a16="http://schemas.microsoft.com/office/drawing/2014/main" id="{F04D0404-EF49-4C88-86F7-96B7CE5C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44600"/>
            <a:ext cx="22479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D9488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F2_A_RBorderB">
            <a:extLst xmlns:a="http://schemas.openxmlformats.org/drawingml/2006/main">
              <a:ext uri="{FF2B5EF4-FFF2-40B4-BE49-F238E27FC236}">
                <a16:creationId xmlns:a16="http://schemas.microsoft.com/office/drawing/2014/main" id="{A2CA2781-E20C-4968-97D9-93ED46D5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22479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D9488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F2_A_RBorderL">
            <a:extLst xmlns:a="http://schemas.openxmlformats.org/drawingml/2006/main">
              <a:ext uri="{FF2B5EF4-FFF2-40B4-BE49-F238E27FC236}">
                <a16:creationId xmlns:a16="http://schemas.microsoft.com/office/drawing/2014/main" id="{1333B6C6-F4CA-445B-ADCD-5D5DAF9A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44600"/>
            <a:ext cx="0" cy="1422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D9488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F2_A_RBorderR">
            <a:extLst xmlns:a="http://schemas.openxmlformats.org/drawingml/2006/main">
              <a:ext uri="{FF2B5EF4-FFF2-40B4-BE49-F238E27FC236}">
                <a16:creationId xmlns:a16="http://schemas.microsoft.com/office/drawing/2014/main" id="{CD3A3ED6-C0BE-4793-A773-E52173CB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44600"/>
            <a:ext cx="0" cy="14224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D9488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F2_B_Title">
            <a:extLst xmlns:a="http://schemas.openxmlformats.org/drawingml/2006/main">
              <a:ext uri="{FF2B5EF4-FFF2-40B4-BE49-F238E27FC236}">
                <a16:creationId xmlns:a16="http://schemas.microsoft.com/office/drawing/2014/main" id="{F63C11FA-B454-4AF7-AF11-4BB1212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9100"/>
            <a:ext cx="419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   W–RG EXECUTION CONTRAST</a:t>
            </a:r>
          </a:p>
        </p:txBody>
      </p:sp>
      <p:sp>
        <p:nvSpPr>
          <p:cNvPr id="33" name="F2_B_SamePackage">
            <a:extLst xmlns:a="http://schemas.openxmlformats.org/drawingml/2006/main">
              <a:ext uri="{FF2B5EF4-FFF2-40B4-BE49-F238E27FC236}">
                <a16:creationId xmlns:a16="http://schemas.microsoft.com/office/drawing/2014/main" id="{9615C41F-A018-45F6-920D-2F70940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76600"/>
            <a:ext cx="1701800" cy="43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E3A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Same visible gift package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→ agent proposals</a:t>
            </a:r>
          </a:p>
        </p:txBody>
      </p:sp>
      <p:sp>
        <p:nvSpPr>
          <p:cNvPr id="34" name="F2_B_Down1">
            <a:extLst xmlns:a="http://schemas.openxmlformats.org/drawingml/2006/main">
              <a:ext uri="{FF2B5EF4-FFF2-40B4-BE49-F238E27FC236}">
                <a16:creationId xmlns:a16="http://schemas.microsoft.com/office/drawing/2014/main" id="{9F332EBA-B5AE-4241-9232-6E9D02D4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33800"/>
            <a:ext cx="0" cy="16510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F2_B_Fork">
            <a:extLst xmlns:a="http://schemas.openxmlformats.org/drawingml/2006/main">
              <a:ext uri="{FF2B5EF4-FFF2-40B4-BE49-F238E27FC236}">
                <a16:creationId xmlns:a16="http://schemas.microsoft.com/office/drawing/2014/main" id="{259A5F55-5577-416E-B1C2-459CCA77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37000"/>
            <a:ext cx="2006600" cy="292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1E3A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Post-response execution fork</a:t>
            </a:r>
          </a:p>
        </p:txBody>
      </p:sp>
      <p:sp>
        <p:nvSpPr>
          <p:cNvPr id="36" name="F2_B_BranchLeft">
            <a:extLst xmlns:a="http://schemas.openxmlformats.org/drawingml/2006/main">
              <a:ext uri="{FF2B5EF4-FFF2-40B4-BE49-F238E27FC236}">
                <a16:creationId xmlns:a16="http://schemas.microsoft.com/office/drawing/2014/main" id="{BFA9B79B-2BC7-4270-95AF-8C6333DD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997200" y="4089400"/>
            <a:ext cx="533400" cy="26670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F2_B_BranchRight">
            <a:extLst xmlns:a="http://schemas.openxmlformats.org/drawingml/2006/main">
              <a:ext uri="{FF2B5EF4-FFF2-40B4-BE49-F238E27FC236}">
                <a16:creationId xmlns:a16="http://schemas.microsoft.com/office/drawing/2014/main" id="{D4F90A12-711B-4C45-9CED-C78D75A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89400"/>
            <a:ext cx="533400" cy="26670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F2_B_LBorderT">
            <a:extLst xmlns:a="http://schemas.openxmlformats.org/drawingml/2006/main">
              <a:ext uri="{FF2B5EF4-FFF2-40B4-BE49-F238E27FC236}">
                <a16:creationId xmlns:a16="http://schemas.microsoft.com/office/drawing/2014/main" id="{F533551E-3BE9-49E5-999C-A7B53BD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8800"/>
            <a:ext cx="2159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F2_B_LBorderL">
            <a:extLst xmlns:a="http://schemas.openxmlformats.org/drawingml/2006/main">
              <a:ext uri="{FF2B5EF4-FFF2-40B4-BE49-F238E27FC236}">
                <a16:creationId xmlns:a16="http://schemas.microsoft.com/office/drawing/2014/main" id="{7ACD889D-CF21-4D70-A701-1ACD8CD6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8800"/>
            <a:ext cx="0" cy="101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F2_B_LBorderR">
            <a:extLst xmlns:a="http://schemas.openxmlformats.org/drawingml/2006/main">
              <a:ext uri="{FF2B5EF4-FFF2-40B4-BE49-F238E27FC236}">
                <a16:creationId xmlns:a16="http://schemas.microsoft.com/office/drawing/2014/main" id="{608146FB-711A-4BED-A99B-1D31280D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4368800"/>
            <a:ext cx="0" cy="101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F2_B_RBorderT">
            <a:extLst xmlns:a="http://schemas.openxmlformats.org/drawingml/2006/main">
              <a:ext uri="{FF2B5EF4-FFF2-40B4-BE49-F238E27FC236}">
                <a16:creationId xmlns:a16="http://schemas.microsoft.com/office/drawing/2014/main" id="{3790FCAC-EFDD-415D-83A4-2C849F7B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368800"/>
            <a:ext cx="2159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43F5E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F2_B_RBorderL">
            <a:extLst xmlns:a="http://schemas.openxmlformats.org/drawingml/2006/main">
              <a:ext uri="{FF2B5EF4-FFF2-40B4-BE49-F238E27FC236}">
                <a16:creationId xmlns:a16="http://schemas.microsoft.com/office/drawing/2014/main" id="{C332DFCF-F5BF-4BFF-9E91-C303DC8C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368800"/>
            <a:ext cx="0" cy="101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43F5E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F2_B_RBorderR">
            <a:extLst xmlns:a="http://schemas.openxmlformats.org/drawingml/2006/main">
              <a:ext uri="{FF2B5EF4-FFF2-40B4-BE49-F238E27FC236}">
                <a16:creationId xmlns:a16="http://schemas.microsoft.com/office/drawing/2014/main" id="{452AC7D2-6D31-48B5-9AF3-CB84A1F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8800"/>
            <a:ext cx="0" cy="101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43F5E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F2_B_Standard">
            <a:extLst xmlns:a="http://schemas.openxmlformats.org/drawingml/2006/main">
              <a:ext uri="{FF2B5EF4-FFF2-40B4-BE49-F238E27FC236}">
                <a16:creationId xmlns:a16="http://schemas.microsoft.com/office/drawing/2014/main" id="{5233F54E-EA06-4079-9CD4-EF5D6031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445000"/>
            <a:ext cx="114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47" name="F2_B_StandardCount">
            <a:extLst xmlns:a="http://schemas.openxmlformats.org/drawingml/2006/main">
              <a:ext uri="{FF2B5EF4-FFF2-40B4-BE49-F238E27FC236}">
                <a16:creationId xmlns:a16="http://schemas.microsoft.com/office/drawing/2014/main" id="{95E721F4-C961-4BE4-ABEB-C90E61C8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686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334E73"/>
                </a:solidFill>
                <a:latin typeface="Arial"/>
                <a:ea typeface="Arial"/>
                <a:cs typeface="Arial"/>
              </a:rPr>
              <a:t>H–H swaps: 83</a:t>
            </a:r>
          </a:p>
        </p:txBody>
      </p:sp>
      <p:sp>
        <p:nvSpPr>
          <p:cNvPr id="48" name="F2_B_StandardDown">
            <a:extLst xmlns:a="http://schemas.openxmlformats.org/drawingml/2006/main">
              <a:ext uri="{FF2B5EF4-FFF2-40B4-BE49-F238E27FC236}">
                <a16:creationId xmlns:a16="http://schemas.microsoft.com/office/drawing/2014/main" id="{EEFCFAFC-0AEA-4714-B22D-9C25051E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4902200"/>
            <a:ext cx="0" cy="24130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F2_B_NextLeft">
            <a:extLst xmlns:a="http://schemas.openxmlformats.org/drawingml/2006/main">
              <a:ext uri="{FF2B5EF4-FFF2-40B4-BE49-F238E27FC236}">
                <a16:creationId xmlns:a16="http://schemas.microsoft.com/office/drawing/2014/main" id="{063BFDC7-553F-4D03-9A56-B2EDE04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5168900"/>
            <a:ext cx="1524000" cy="31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496A9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Next round state</a:t>
            </a:r>
          </a:p>
        </p:txBody>
      </p:sp>
      <p:sp>
        <p:nvSpPr>
          <p:cNvPr id="50" name="F2_B_Blocked">
            <a:extLst xmlns:a="http://schemas.openxmlformats.org/drawingml/2006/main">
              <a:ext uri="{FF2B5EF4-FFF2-40B4-BE49-F238E27FC236}">
                <a16:creationId xmlns:a16="http://schemas.microsoft.com/office/drawing/2014/main" id="{6B488FFF-498D-48FA-8612-AD0F934E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45000"/>
            <a:ext cx="1651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EF0000"/>
                </a:solidFill>
                <a:latin typeface="Arial"/>
                <a:ea typeface="Arial"/>
                <a:cs typeface="Arial"/>
              </a:rPr>
              <a:t>Block feasible H–H giving</a:t>
            </a:r>
          </a:p>
        </p:txBody>
      </p:sp>
      <p:sp>
        <p:nvSpPr>
          <p:cNvPr id="51" name="F2_B_BlockedCount">
            <a:extLst xmlns:a="http://schemas.openxmlformats.org/drawingml/2006/main">
              <a:ext uri="{FF2B5EF4-FFF2-40B4-BE49-F238E27FC236}">
                <a16:creationId xmlns:a16="http://schemas.microsoft.com/office/drawing/2014/main" id="{25B07430-93F8-43DD-828C-C2B57581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4686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334E73"/>
                </a:solidFill>
                <a:latin typeface="Arial"/>
                <a:ea typeface="Arial"/>
                <a:cs typeface="Arial"/>
              </a:rPr>
              <a:t>H–H swaps: 0</a:t>
            </a:r>
          </a:p>
        </p:txBody>
      </p:sp>
      <p:sp>
        <p:nvSpPr>
          <p:cNvPr id="52" name="F2_B_BlockMark">
            <a:extLst xmlns:a="http://schemas.openxmlformats.org/drawingml/2006/main">
              <a:ext uri="{FF2B5EF4-FFF2-40B4-BE49-F238E27FC236}">
                <a16:creationId xmlns:a16="http://schemas.microsoft.com/office/drawing/2014/main" id="{E02C79EC-C349-4375-AA9F-AACAFAA5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927600"/>
            <a:ext cx="3302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F0000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F2_B_BlockedDown">
            <a:extLst xmlns:a="http://schemas.openxmlformats.org/drawingml/2006/main">
              <a:ext uri="{FF2B5EF4-FFF2-40B4-BE49-F238E27FC236}">
                <a16:creationId xmlns:a16="http://schemas.microsoft.com/office/drawing/2014/main" id="{DD9765A0-DDA4-40A5-883A-EF0228A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965700"/>
            <a:ext cx="0" cy="17780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96A92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F2_B_NextRight">
            <a:extLst xmlns:a="http://schemas.openxmlformats.org/drawingml/2006/main">
              <a:ext uri="{FF2B5EF4-FFF2-40B4-BE49-F238E27FC236}">
                <a16:creationId xmlns:a16="http://schemas.microsoft.com/office/drawing/2014/main" id="{85707513-0114-478A-B9D4-32DF4B7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5168900"/>
            <a:ext cx="1524000" cy="31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496A9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F355C"/>
                </a:solidFill>
                <a:latin typeface="Arial"/>
                <a:ea typeface="Arial"/>
                <a:cs typeface="Arial"/>
              </a:rPr>
              <a:t>Next round state</a:t>
            </a:r>
          </a:p>
        </p:txBody>
      </p:sp>
      <p:sp>
        <p:nvSpPr>
          <p:cNvPr id="55" name="F2_B_FeedbackLeftV">
            <a:extLst xmlns:a="http://schemas.openxmlformats.org/drawingml/2006/main">
              <a:ext uri="{FF2B5EF4-FFF2-40B4-BE49-F238E27FC236}">
                <a16:creationId xmlns:a16="http://schemas.microsoft.com/office/drawing/2014/main" id="{F633B890-4269-449C-B4C0-694F22B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5511800"/>
            <a:ext cx="0" cy="19050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CA6C9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6" name="F2_B_FeedbackLeftH">
            <a:extLst xmlns:a="http://schemas.openxmlformats.org/drawingml/2006/main">
              <a:ext uri="{FF2B5EF4-FFF2-40B4-BE49-F238E27FC236}">
                <a16:creationId xmlns:a16="http://schemas.microsoft.com/office/drawing/2014/main" id="{41B813AB-D603-4F97-9428-95E6DB71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5702300"/>
            <a:ext cx="977900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CA6C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F2_B_FeedbackRightV">
            <a:extLst xmlns:a="http://schemas.openxmlformats.org/drawingml/2006/main">
              <a:ext uri="{FF2B5EF4-FFF2-40B4-BE49-F238E27FC236}">
                <a16:creationId xmlns:a16="http://schemas.microsoft.com/office/drawing/2014/main" id="{1749A6DC-8BF4-4012-8845-1643C78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511800"/>
            <a:ext cx="0" cy="19050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CA6C9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F2_B_FeedbackRightH">
            <a:extLst xmlns:a="http://schemas.openxmlformats.org/drawingml/2006/main">
              <a:ext uri="{FF2B5EF4-FFF2-40B4-BE49-F238E27FC236}">
                <a16:creationId xmlns:a16="http://schemas.microsoft.com/office/drawing/2014/main" id="{8E10FDD2-CAC8-482E-8513-E0607E32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81600" y="5702300"/>
            <a:ext cx="977900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8CA6C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F2_B_FeedbackLabel">
            <a:extLst xmlns:a="http://schemas.openxmlformats.org/drawingml/2006/main">
              <a:ext uri="{FF2B5EF4-FFF2-40B4-BE49-F238E27FC236}">
                <a16:creationId xmlns:a16="http://schemas.microsoft.com/office/drawing/2014/main" id="{BEC59C22-B5E9-41D3-AC6D-DC39905D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5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334E73"/>
                </a:solidFill>
                <a:latin typeface="Arial"/>
                <a:ea typeface="Arial"/>
                <a:cs typeface="Arial"/>
              </a:rPr>
              <a:t>with dynamic feedback</a:t>
            </a:r>
          </a:p>
        </p:txBody>
      </p:sp>
      <p:sp>
        <p:nvSpPr>
          <p:cNvPr id="60" name="F2_B_BracketL">
            <a:extLst xmlns:a="http://schemas.openxmlformats.org/drawingml/2006/main">
              <a:ext uri="{FF2B5EF4-FFF2-40B4-BE49-F238E27FC236}">
                <a16:creationId xmlns:a16="http://schemas.microsoft.com/office/drawing/2014/main" id="{D2B976C1-2AFB-40E5-92BB-A45F6A5A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59182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A6C9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F2_B_BracketR">
            <a:extLst xmlns:a="http://schemas.openxmlformats.org/drawingml/2006/main">
              <a:ext uri="{FF2B5EF4-FFF2-40B4-BE49-F238E27FC236}">
                <a16:creationId xmlns:a16="http://schemas.microsoft.com/office/drawing/2014/main" id="{F9B7A914-DE84-48E8-B6C3-EB4093F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182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A6C9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F2_B_PairedLabel">
            <a:extLst xmlns:a="http://schemas.openxmlformats.org/drawingml/2006/main">
              <a:ext uri="{FF2B5EF4-FFF2-40B4-BE49-F238E27FC236}">
                <a16:creationId xmlns:a16="http://schemas.microsoft.com/office/drawing/2014/main" id="{603FA4D1-E88D-469B-803F-334B024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3900"/>
            <a:ext cx="1143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496A92"/>
                </a:solidFill>
                <a:latin typeface="Arial"/>
                <a:ea typeface="Arial"/>
                <a:cs typeface="Arial"/>
              </a:rPr>
              <a:t>Paired welfare difference</a:t>
            </a:r>
          </a:p>
        </p:txBody>
      </p:sp>
      <p:sp>
        <p:nvSpPr>
          <p:cNvPr id="63" name="F2_B_Result">
            <a:extLst xmlns:a="http://schemas.openxmlformats.org/drawingml/2006/main">
              <a:ext uri="{FF2B5EF4-FFF2-40B4-BE49-F238E27FC236}">
                <a16:creationId xmlns:a16="http://schemas.microsoft.com/office/drawing/2014/main" id="{19077FA0-90AB-4018-8A70-A2FFD5E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6032500"/>
            <a:ext cx="203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EF0000"/>
                </a:solidFill>
                <a:latin typeface="Arial"/>
                <a:ea typeface="Arial"/>
                <a:cs typeface="Arial"/>
              </a:rPr>
              <a:t>−3.2083 per account</a:t>
            </a:r>
          </a:p>
        </p:txBody>
      </p:sp>
      <p:sp>
        <p:nvSpPr>
          <p:cNvPr id="64" name="F2_B_AccountingBox">
            <a:extLst xmlns:a="http://schemas.openxmlformats.org/drawingml/2006/main">
              <a:ext uri="{FF2B5EF4-FFF2-40B4-BE49-F238E27FC236}">
                <a16:creationId xmlns:a16="http://schemas.microsoft.com/office/drawing/2014/main" id="{37971084-A435-4985-95D1-463AA94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50000"/>
            <a:ext cx="670560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BAE0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334E73"/>
                </a:solidFill>
                <a:latin typeface="Arial"/>
                <a:ea typeface="Arial"/>
                <a:cs typeface="Arial"/>
              </a:rPr>
              <a:t>102 fewer Hard solves × 3 = 306 of 308 aggregate score points; dependency accounting, not mediation</a:t>
            </a:r>
          </a:p>
        </p:txBody>
      </p:sp>
      <p:sp>
        <p:nvSpPr>
          <p:cNvPr id="65" name="F2_B_LBorderB1">
            <a:extLst xmlns:a="http://schemas.openxmlformats.org/drawingml/2006/main">
              <a:ext uri="{FF2B5EF4-FFF2-40B4-BE49-F238E27FC236}">
                <a16:creationId xmlns:a16="http://schemas.microsoft.com/office/drawing/2014/main" id="{2ABEE695-B05D-4335-BF5F-2CFB7B5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84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F2_B_LBorderB2">
            <a:extLst xmlns:a="http://schemas.openxmlformats.org/drawingml/2006/main">
              <a:ext uri="{FF2B5EF4-FFF2-40B4-BE49-F238E27FC236}">
                <a16:creationId xmlns:a16="http://schemas.microsoft.com/office/drawing/2014/main" id="{FA688A90-0364-475D-A72D-C683354D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5384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5CF6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F2_B_RBorderB1">
            <a:extLst xmlns:a="http://schemas.openxmlformats.org/drawingml/2006/main">
              <a:ext uri="{FF2B5EF4-FFF2-40B4-BE49-F238E27FC236}">
                <a16:creationId xmlns:a16="http://schemas.microsoft.com/office/drawing/2014/main" id="{8D8229C2-F21B-4EEC-8A47-7ED4563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384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43F5E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2_B_RBorderB2">
            <a:extLst xmlns:a="http://schemas.openxmlformats.org/drawingml/2006/main">
              <a:ext uri="{FF2B5EF4-FFF2-40B4-BE49-F238E27FC236}">
                <a16:creationId xmlns:a16="http://schemas.microsoft.com/office/drawing/2014/main" id="{BDAA329B-336F-4128-AA04-C2FD1882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5384800"/>
            <a:ext cx="317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43F5E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6353417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3_Header1">
            <a:extLst xmlns:a="http://schemas.openxmlformats.org/drawingml/2006/main">
              <a:ext uri="{FF2B5EF4-FFF2-40B4-BE49-F238E27FC236}">
                <a16:creationId xmlns:a16="http://schemas.microsoft.com/office/drawing/2014/main" id="{A7711886-9ACE-4695-87BA-130E3DC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1790700"/>
            <a:ext cx="1651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Message package</a:t>
            </a:r>
          </a:p>
        </p:txBody>
      </p:sp>
      <p:sp>
        <p:nvSpPr>
          <p:cNvPr id="3" name="F3_Header2">
            <a:extLst xmlns:a="http://schemas.openxmlformats.org/drawingml/2006/main">
              <a:ext uri="{FF2B5EF4-FFF2-40B4-BE49-F238E27FC236}">
                <a16:creationId xmlns:a16="http://schemas.microsoft.com/office/drawing/2014/main" id="{1570E6CE-0055-46F2-817B-E4708C9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1790700"/>
            <a:ext cx="3175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Text-named role relation</a:t>
            </a:r>
          </a:p>
        </p:txBody>
      </p:sp>
      <p:sp>
        <p:nvSpPr>
          <p:cNvPr id="4" name="F3_Header3">
            <a:extLst xmlns:a="http://schemas.openxmlformats.org/drawingml/2006/main">
              <a:ext uri="{FF2B5EF4-FFF2-40B4-BE49-F238E27FC236}">
                <a16:creationId xmlns:a16="http://schemas.microsoft.com/office/drawing/2014/main" id="{EA8900DF-EB54-4B1B-9C1F-5DC4458B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00" y="1790700"/>
            <a:ext cx="2794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Observed H–H swap response</a:t>
            </a:r>
          </a:p>
        </p:txBody>
      </p:sp>
      <p:sp>
        <p:nvSpPr>
          <p:cNvPr id="5" name="F3_TopRule">
            <a:extLst xmlns:a="http://schemas.openxmlformats.org/drawingml/2006/main">
              <a:ext uri="{FF2B5EF4-FFF2-40B4-BE49-F238E27FC236}">
                <a16:creationId xmlns:a16="http://schemas.microsoft.com/office/drawing/2014/main" id="{70A0EF45-1E12-4B48-9660-E732A0DA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2057400"/>
            <a:ext cx="8636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BD5E1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F3_Gift_Label">
            <a:extLst xmlns:a="http://schemas.openxmlformats.org/drawingml/2006/main">
              <a:ext uri="{FF2B5EF4-FFF2-40B4-BE49-F238E27FC236}">
                <a16:creationId xmlns:a16="http://schemas.microsoft.com/office/drawing/2014/main" id="{400B2B93-1630-4575-9AA7-EA5CF8B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Gift exact</a:t>
            </a:r>
          </a:p>
        </p:txBody>
      </p:sp>
      <p:sp>
        <p:nvSpPr>
          <p:cNvPr id="7" name="F3_RowRule1">
            <a:extLst xmlns:a="http://schemas.openxmlformats.org/drawingml/2006/main">
              <a:ext uri="{FF2B5EF4-FFF2-40B4-BE49-F238E27FC236}">
                <a16:creationId xmlns:a16="http://schemas.microsoft.com/office/drawing/2014/main" id="{AA82877A-BD76-48C4-B981-0A4D59A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2743200"/>
            <a:ext cx="8636000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BD5E1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F3_Easy_Label">
            <a:extLst xmlns:a="http://schemas.openxmlformats.org/drawingml/2006/main">
              <a:ext uri="{FF2B5EF4-FFF2-40B4-BE49-F238E27FC236}">
                <a16:creationId xmlns:a16="http://schemas.microsoft.com/office/drawing/2014/main" id="{1E6C884A-E181-40A1-82F9-D8B4CF3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956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Easy only</a:t>
            </a:r>
          </a:p>
        </p:txBody>
      </p:sp>
      <p:sp>
        <p:nvSpPr>
          <p:cNvPr id="10" name="F3_Hard_Label">
            <a:extLst xmlns:a="http://schemas.openxmlformats.org/drawingml/2006/main">
              <a:ext uri="{FF2B5EF4-FFF2-40B4-BE49-F238E27FC236}">
                <a16:creationId xmlns:a16="http://schemas.microsoft.com/office/drawing/2014/main" id="{BE18180F-8099-424F-9D14-B800472B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941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Hard partner</a:t>
            </a:r>
          </a:p>
        </p:txBody>
      </p:sp>
      <p:sp>
        <p:nvSpPr>
          <p:cNvPr id="12" name="F3_Harm_Label">
            <a:extLst xmlns:a="http://schemas.openxmlformats.org/drawingml/2006/main">
              <a:ext uri="{FF2B5EF4-FFF2-40B4-BE49-F238E27FC236}">
                <a16:creationId xmlns:a16="http://schemas.microsoft.com/office/drawing/2014/main" id="{9F98CABB-684E-4AC1-AA62-3A29336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926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Harmful E–E</a:t>
            </a:r>
          </a:p>
        </p:txBody>
      </p:sp>
      <p:sp>
        <p:nvSpPr>
          <p:cNvPr id="13" name="F3_Gift_E">
            <a:extLst xmlns:a="http://schemas.openxmlformats.org/drawingml/2006/main">
              <a:ext uri="{FF2B5EF4-FFF2-40B4-BE49-F238E27FC236}">
                <a16:creationId xmlns:a16="http://schemas.microsoft.com/office/drawing/2014/main" id="{C13C9A25-6B4B-462D-A5CE-4D55AF37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4" name="F3_Gift_H">
            <a:extLst xmlns:a="http://schemas.openxmlformats.org/drawingml/2006/main">
              <a:ext uri="{FF2B5EF4-FFF2-40B4-BE49-F238E27FC236}">
                <a16:creationId xmlns:a16="http://schemas.microsoft.com/office/drawing/2014/main" id="{7DE32A78-D577-434E-B9AB-5C6158C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5" name="F3_Gift_Named">
            <a:extLst xmlns:a="http://schemas.openxmlformats.org/drawingml/2006/main">
              <a:ext uri="{FF2B5EF4-FFF2-40B4-BE49-F238E27FC236}">
                <a16:creationId xmlns:a16="http://schemas.microsoft.com/office/drawing/2014/main" id="{4E881285-D65D-40D1-92BC-03705D1C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74900"/>
            <a:ext cx="11303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6D28D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F3_Gift_Action">
            <a:extLst xmlns:a="http://schemas.openxmlformats.org/drawingml/2006/main">
              <a:ext uri="{FF2B5EF4-FFF2-40B4-BE49-F238E27FC236}">
                <a16:creationId xmlns:a16="http://schemas.microsoft.com/office/drawing/2014/main" id="{F73ACB2D-352A-4313-8141-32A2AE4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2159000"/>
            <a:ext cx="38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gift</a:t>
            </a:r>
          </a:p>
        </p:txBody>
      </p:sp>
      <p:sp>
        <p:nvSpPr>
          <p:cNvPr id="17" name="F3_Gift_Qualifier">
            <a:extLst xmlns:a="http://schemas.openxmlformats.org/drawingml/2006/main">
              <a:ext uri="{FF2B5EF4-FFF2-40B4-BE49-F238E27FC236}">
                <a16:creationId xmlns:a16="http://schemas.microsoft.com/office/drawing/2014/main" id="{7E65DE0E-E06B-4B99-99C3-B294ADBA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0783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/>
            </a:pPr>
            <a:r>
              <a:rPr sz="76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(no explicit actor closure)</a:t>
            </a:r>
          </a:p>
        </p:txBody>
      </p:sp>
      <p:sp>
        <p:nvSpPr>
          <p:cNvPr id="18" name="F3_Gift_H1">
            <a:extLst xmlns:a="http://schemas.openxmlformats.org/drawingml/2006/main">
              <a:ext uri="{FF2B5EF4-FFF2-40B4-BE49-F238E27FC236}">
                <a16:creationId xmlns:a16="http://schemas.microsoft.com/office/drawing/2014/main" id="{E4FD95A4-4FE8-4723-A161-97C7AED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9" name="F3_Gift_H2">
            <a:extLst xmlns:a="http://schemas.openxmlformats.org/drawingml/2006/main">
              <a:ext uri="{FF2B5EF4-FFF2-40B4-BE49-F238E27FC236}">
                <a16:creationId xmlns:a16="http://schemas.microsoft.com/office/drawing/2014/main" id="{24E589B7-8D69-407F-BEB7-8120DE85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" name="F3_Gift_HH">
            <a:extLst xmlns:a="http://schemas.openxmlformats.org/drawingml/2006/main">
              <a:ext uri="{FF2B5EF4-FFF2-40B4-BE49-F238E27FC236}">
                <a16:creationId xmlns:a16="http://schemas.microsoft.com/office/drawing/2014/main" id="{EC8D83CE-5F17-49D3-8E08-6B93E754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74900"/>
            <a:ext cx="9271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0F8B8D"/>
            </a:solidFill>
            <a:prstDash val="dash"/>
            <a:headEnd type="triangl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F3_Gift_Swap">
            <a:extLst xmlns:a="http://schemas.openxmlformats.org/drawingml/2006/main">
              <a:ext uri="{FF2B5EF4-FFF2-40B4-BE49-F238E27FC236}">
                <a16:creationId xmlns:a16="http://schemas.microsoft.com/office/drawing/2014/main" id="{44C183B8-52B8-4D3E-96C8-25D28F4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336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/>
            </a:pPr>
            <a:r>
              <a:rPr sz="78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outside named roles</a:t>
            </a:r>
          </a:p>
        </p:txBody>
      </p:sp>
      <p:sp>
        <p:nvSpPr>
          <p:cNvPr id="22" name="F3_Gift_Metric">
            <a:extLst xmlns:a="http://schemas.openxmlformats.org/drawingml/2006/main">
              <a:ext uri="{FF2B5EF4-FFF2-40B4-BE49-F238E27FC236}">
                <a16:creationId xmlns:a16="http://schemas.microsoft.com/office/drawing/2014/main" id="{6FC7747F-7528-4DFE-9EF1-7BB2680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Mean 0.8297 vs 0.2226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Δ +0.6070 vs neutral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Named E→H engagement gate fails</a:t>
            </a:r>
          </a:p>
        </p:txBody>
      </p:sp>
      <p:sp>
        <p:nvSpPr>
          <p:cNvPr id="23" name="F3_Easy_E">
            <a:extLst xmlns:a="http://schemas.openxmlformats.org/drawingml/2006/main">
              <a:ext uri="{FF2B5EF4-FFF2-40B4-BE49-F238E27FC236}">
                <a16:creationId xmlns:a16="http://schemas.microsoft.com/office/drawing/2014/main" id="{35B9A4B8-4C48-4E0E-B53C-808175A3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19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4" name="F3_Easy_H">
            <a:extLst xmlns:a="http://schemas.openxmlformats.org/drawingml/2006/main">
              <a:ext uri="{FF2B5EF4-FFF2-40B4-BE49-F238E27FC236}">
                <a16:creationId xmlns:a16="http://schemas.microsoft.com/office/drawing/2014/main" id="{6ECF5E28-E5B9-44D5-9CB6-37D20D43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2819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5" name="F3_Easy_Named">
            <a:extLst xmlns:a="http://schemas.openxmlformats.org/drawingml/2006/main">
              <a:ext uri="{FF2B5EF4-FFF2-40B4-BE49-F238E27FC236}">
                <a16:creationId xmlns:a16="http://schemas.microsoft.com/office/drawing/2014/main" id="{1B5CDE4E-2C7E-44DC-A29E-3E16377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84500"/>
            <a:ext cx="11303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6D28D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F3_Easy_Action">
            <a:extLst xmlns:a="http://schemas.openxmlformats.org/drawingml/2006/main">
              <a:ext uri="{FF2B5EF4-FFF2-40B4-BE49-F238E27FC236}">
                <a16:creationId xmlns:a16="http://schemas.microsoft.com/office/drawing/2014/main" id="{0C5CAA7D-39EE-4017-84D2-42151A7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2768600"/>
            <a:ext cx="38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gift</a:t>
            </a:r>
          </a:p>
        </p:txBody>
      </p:sp>
      <p:sp>
        <p:nvSpPr>
          <p:cNvPr id="27" name="F3_Easy_Qualifier">
            <a:extLst xmlns:a="http://schemas.openxmlformats.org/drawingml/2006/main">
              <a:ext uri="{FF2B5EF4-FFF2-40B4-BE49-F238E27FC236}">
                <a16:creationId xmlns:a16="http://schemas.microsoft.com/office/drawing/2014/main" id="{E702A209-58B2-4567-96C7-A9DDDDC9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60383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/>
            </a:pPr>
            <a:r>
              <a:rPr sz="73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(explicit Hard-giving prohibition)</a:t>
            </a:r>
          </a:p>
        </p:txBody>
      </p:sp>
      <p:sp>
        <p:nvSpPr>
          <p:cNvPr id="28" name="F3_Easy_H1">
            <a:extLst xmlns:a="http://schemas.openxmlformats.org/drawingml/2006/main">
              <a:ext uri="{FF2B5EF4-FFF2-40B4-BE49-F238E27FC236}">
                <a16:creationId xmlns:a16="http://schemas.microsoft.com/office/drawing/2014/main" id="{39294189-A834-42BC-AD67-7FA9BC6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819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9" name="F3_Easy_H2">
            <a:extLst xmlns:a="http://schemas.openxmlformats.org/drawingml/2006/main">
              <a:ext uri="{FF2B5EF4-FFF2-40B4-BE49-F238E27FC236}">
                <a16:creationId xmlns:a16="http://schemas.microsoft.com/office/drawing/2014/main" id="{8AD32BFF-FCA8-4546-BEC8-07E1D4C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819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0" name="F3_Easy_HH">
            <a:extLst xmlns:a="http://schemas.openxmlformats.org/drawingml/2006/main">
              <a:ext uri="{FF2B5EF4-FFF2-40B4-BE49-F238E27FC236}">
                <a16:creationId xmlns:a16="http://schemas.microsoft.com/office/drawing/2014/main" id="{AC582A59-6A4B-4BE5-883F-BDAF10B1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4500"/>
            <a:ext cx="9271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9FB0C4"/>
            </a:solidFill>
            <a:prstDash val="solid"/>
            <a:headEnd type="triangl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F3_Easy_Near">
            <a:extLst xmlns:a="http://schemas.openxmlformats.org/drawingml/2006/main">
              <a:ext uri="{FF2B5EF4-FFF2-40B4-BE49-F238E27FC236}">
                <a16:creationId xmlns:a16="http://schemas.microsoft.com/office/drawing/2014/main" id="{F18FEF29-9D88-48B7-A446-22310D1D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9562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/>
            </a:pPr>
            <a:r>
              <a:rPr sz="76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near neutral</a:t>
            </a:r>
          </a:p>
          <a:p xmlns:a="http://schemas.openxmlformats.org/drawingml/2006/main">
            <a:pPr algn="ctr">
              <a:buNone/>
              <a:defRPr sz="765"/>
            </a:pPr>
            <a:r>
              <a:rPr sz="76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zero named E→H proposals</a:t>
            </a:r>
          </a:p>
        </p:txBody>
      </p:sp>
      <p:sp>
        <p:nvSpPr>
          <p:cNvPr id="32" name="F3_Easy_Metric">
            <a:extLst xmlns:a="http://schemas.openxmlformats.org/drawingml/2006/main">
              <a:ext uri="{FF2B5EF4-FFF2-40B4-BE49-F238E27FC236}">
                <a16:creationId xmlns:a16="http://schemas.microsoft.com/office/drawing/2014/main" id="{BDE2A44D-BF60-4A96-BCEA-D0033D6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Mean 0.2374 vs 0.2226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Gift − Easy-only +0.5923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Actor semantics not identified</a:t>
            </a:r>
          </a:p>
        </p:txBody>
      </p:sp>
      <p:sp>
        <p:nvSpPr>
          <p:cNvPr id="33" name="F3_Hard_E">
            <a:extLst xmlns:a="http://schemas.openxmlformats.org/drawingml/2006/main">
              <a:ext uri="{FF2B5EF4-FFF2-40B4-BE49-F238E27FC236}">
                <a16:creationId xmlns:a16="http://schemas.microsoft.com/office/drawing/2014/main" id="{301BEA35-4D9C-4AAB-A013-21E78A12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1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5852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4" name="F3_Hard_HL">
            <a:extLst xmlns:a="http://schemas.openxmlformats.org/drawingml/2006/main">
              <a:ext uri="{FF2B5EF4-FFF2-40B4-BE49-F238E27FC236}">
                <a16:creationId xmlns:a16="http://schemas.microsoft.com/office/drawing/2014/main" id="{DC7CF353-209A-4274-80CD-B8CFCD7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351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5" name="F3_Hard_Named">
            <a:extLst xmlns:a="http://schemas.openxmlformats.org/drawingml/2006/main">
              <a:ext uri="{FF2B5EF4-FFF2-40B4-BE49-F238E27FC236}">
                <a16:creationId xmlns:a16="http://schemas.microsoft.com/office/drawing/2014/main" id="{3ADD78B1-C25A-4FDF-BD6E-0172C46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83000"/>
            <a:ext cx="11303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6D28D9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F3_Hard_Action">
            <a:extLst xmlns:a="http://schemas.openxmlformats.org/drawingml/2006/main">
              <a:ext uri="{FF2B5EF4-FFF2-40B4-BE49-F238E27FC236}">
                <a16:creationId xmlns:a16="http://schemas.microsoft.com/office/drawing/2014/main" id="{99425043-A182-479D-B138-633B8ED6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467100"/>
            <a:ext cx="38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gift</a:t>
            </a:r>
          </a:p>
        </p:txBody>
      </p:sp>
      <p:sp>
        <p:nvSpPr>
          <p:cNvPr id="37" name="F3_Hard_Qualifier">
            <a:extLst xmlns:a="http://schemas.openxmlformats.org/drawingml/2006/main">
              <a:ext uri="{FF2B5EF4-FFF2-40B4-BE49-F238E27FC236}">
                <a16:creationId xmlns:a16="http://schemas.microsoft.com/office/drawing/2014/main" id="{64F262F4-1A0A-44E6-AA4B-9F91C3D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9518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/>
            </a:pPr>
            <a:r>
              <a:rPr sz="76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(only if partner is Hard)</a:t>
            </a:r>
          </a:p>
        </p:txBody>
      </p:sp>
      <p:sp>
        <p:nvSpPr>
          <p:cNvPr id="38" name="F3_Hard_HR">
            <a:extLst xmlns:a="http://schemas.openxmlformats.org/drawingml/2006/main">
              <a:ext uri="{FF2B5EF4-FFF2-40B4-BE49-F238E27FC236}">
                <a16:creationId xmlns:a16="http://schemas.microsoft.com/office/drawing/2014/main" id="{F46213BE-F4C2-4FB2-A81B-7EEF57A5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32" y="3517868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54047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9" name="F3_Hard_HH">
            <a:extLst xmlns:a="http://schemas.openxmlformats.org/drawingml/2006/main">
              <a:ext uri="{FF2B5EF4-FFF2-40B4-BE49-F238E27FC236}">
                <a16:creationId xmlns:a16="http://schemas.microsoft.com/office/drawing/2014/main" id="{FF2F28FF-8240-44EF-9571-C198726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83032"/>
            <a:ext cx="927068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0F8B8D"/>
            </a:solidFill>
            <a:prstDash val="dash"/>
            <a:headEnd type="triangl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F3_Hard_Partner">
            <a:extLst xmlns:a="http://schemas.openxmlformats.org/drawingml/2006/main">
              <a:ext uri="{FF2B5EF4-FFF2-40B4-BE49-F238E27FC236}">
                <a16:creationId xmlns:a16="http://schemas.microsoft.com/office/drawing/2014/main" id="{2CD38F77-AB82-49EA-8ACF-E35AA891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7667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/>
            </a:pPr>
            <a:r>
              <a:rPr sz="765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within named actor/partner roles</a:t>
            </a:r>
          </a:p>
        </p:txBody>
      </p:sp>
      <p:sp>
        <p:nvSpPr>
          <p:cNvPr id="41" name="F3_Hard_Swap">
            <a:extLst xmlns:a="http://schemas.openxmlformats.org/drawingml/2006/main">
              <a:ext uri="{FF2B5EF4-FFF2-40B4-BE49-F238E27FC236}">
                <a16:creationId xmlns:a16="http://schemas.microsoft.com/office/drawing/2014/main" id="{2869682E-CCEB-4AFE-8B0F-5B879C8B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76625"/>
            <a:ext cx="47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/>
            </a:pPr>
            <a:r>
              <a:rPr sz="915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swap</a:t>
            </a:r>
          </a:p>
        </p:txBody>
      </p:sp>
      <p:sp>
        <p:nvSpPr>
          <p:cNvPr id="42" name="F3_Hard_Not">
            <a:extLst xmlns:a="http://schemas.openxmlformats.org/drawingml/2006/main">
              <a:ext uri="{FF2B5EF4-FFF2-40B4-BE49-F238E27FC236}">
                <a16:creationId xmlns:a16="http://schemas.microsoft.com/office/drawing/2014/main" id="{058CEE9F-BD1B-4D35-9570-1D80DDE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990975"/>
            <a:ext cx="1885950" cy="142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5"/>
            </a:pPr>
            <a:r>
              <a:rPr sz="735" b="0">
                <a:solidFill>
                  <a:srgbClr val="526A8A"/>
                </a:solidFill>
                <a:latin typeface="Arial"/>
                <a:ea typeface="Arial"/>
                <a:cs typeface="Arial"/>
              </a:rPr>
              <a:t>swap itself not explicitly named</a:t>
            </a:r>
          </a:p>
        </p:txBody>
      </p:sp>
      <p:sp>
        <p:nvSpPr>
          <p:cNvPr id="43" name="F3_Hard_Metric">
            <a:extLst xmlns:a="http://schemas.openxmlformats.org/drawingml/2006/main">
              <a:ext uri="{FF2B5EF4-FFF2-40B4-BE49-F238E27FC236}">
                <a16:creationId xmlns:a16="http://schemas.microsoft.com/office/drawing/2014/main" id="{70785FF6-4672-4281-95D8-02ED5854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433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Mean 0.9260 vs 0.2226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Δ +0.7034 vs neutral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Roles supported, action differs</a:t>
            </a:r>
          </a:p>
        </p:txBody>
      </p:sp>
      <p:sp>
        <p:nvSpPr>
          <p:cNvPr id="44" name="F3_Harm_E1">
            <a:extLst xmlns:a="http://schemas.openxmlformats.org/drawingml/2006/main">
              <a:ext uri="{FF2B5EF4-FFF2-40B4-BE49-F238E27FC236}">
                <a16:creationId xmlns:a16="http://schemas.microsoft.com/office/drawing/2014/main" id="{523F2E34-C3CF-40D8-B7DF-BCA2A4A1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1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45" name="F3_Harm_E2">
            <a:extLst xmlns:a="http://schemas.openxmlformats.org/drawingml/2006/main">
              <a:ext uri="{FF2B5EF4-FFF2-40B4-BE49-F238E27FC236}">
                <a16:creationId xmlns:a16="http://schemas.microsoft.com/office/drawing/2014/main" id="{11749851-32CD-4ED6-8108-1BA9A3CC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21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46" name="F3_Harm_Named">
            <a:extLst xmlns:a="http://schemas.openxmlformats.org/drawingml/2006/main">
              <a:ext uri="{FF2B5EF4-FFF2-40B4-BE49-F238E27FC236}">
                <a16:creationId xmlns:a16="http://schemas.microsoft.com/office/drawing/2014/main" id="{EF9EB4D2-59A6-4A45-A959-DCD8B2B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11303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EF0000"/>
            </a:solidFill>
            <a:prstDash val="solid"/>
            <a:headEnd type="non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F3_Harm_Action">
            <a:extLst xmlns:a="http://schemas.openxmlformats.org/drawingml/2006/main">
              <a:ext uri="{FF2B5EF4-FFF2-40B4-BE49-F238E27FC236}">
                <a16:creationId xmlns:a16="http://schemas.microsoft.com/office/drawing/2014/main" id="{40251F61-7927-4218-A9D1-98DC524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4165600"/>
            <a:ext cx="381000" cy="165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EF0000"/>
                </a:solidFill>
                <a:latin typeface="Arial"/>
                <a:ea typeface="Arial"/>
                <a:cs typeface="Arial"/>
              </a:rPr>
              <a:t>swap</a:t>
            </a:r>
          </a:p>
        </p:txBody>
      </p:sp>
      <p:sp>
        <p:nvSpPr>
          <p:cNvPr id="48" name="F3_Harm_Cost">
            <a:extLst xmlns:a="http://schemas.openxmlformats.org/drawingml/2006/main">
              <a:ext uri="{FF2B5EF4-FFF2-40B4-BE49-F238E27FC236}">
                <a16:creationId xmlns:a16="http://schemas.microsoft.com/office/drawing/2014/main" id="{A80F3391-10DA-4946-9762-D31E291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00" y="4457700"/>
            <a:ext cx="10033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EF0000"/>
                </a:solidFill>
                <a:latin typeface="Arial"/>
                <a:ea typeface="Arial"/>
                <a:cs typeface="Arial"/>
              </a:rPr>
              <a:t>cost: −1.0 total welfare</a:t>
            </a:r>
          </a:p>
          <a:p xmlns:a="http://schemas.openxmlformats.org/drawingml/2006/main">
            <a:pPr algn="ctr">
              <a:buNone/>
            </a:pPr>
            <a:r>
              <a:rPr sz="850" b="0">
                <a:solidFill>
                  <a:srgbClr val="EF0000"/>
                </a:solidFill>
                <a:latin typeface="Arial"/>
                <a:ea typeface="Arial"/>
                <a:cs typeface="Arial"/>
              </a:rPr>
              <a:t>per named swap</a:t>
            </a:r>
          </a:p>
        </p:txBody>
      </p:sp>
      <p:sp>
        <p:nvSpPr>
          <p:cNvPr id="49" name="F3_Harm_H1">
            <a:extLst xmlns:a="http://schemas.openxmlformats.org/drawingml/2006/main">
              <a:ext uri="{FF2B5EF4-FFF2-40B4-BE49-F238E27FC236}">
                <a16:creationId xmlns:a16="http://schemas.microsoft.com/office/drawing/2014/main" id="{1ECF286C-3174-4DE1-AC41-F248BD30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421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0" name="F3_Harm_H2">
            <a:extLst xmlns:a="http://schemas.openxmlformats.org/drawingml/2006/main">
              <a:ext uri="{FF2B5EF4-FFF2-40B4-BE49-F238E27FC236}">
                <a16:creationId xmlns:a16="http://schemas.microsoft.com/office/drawing/2014/main" id="{97AB32FD-81F3-466E-84E0-9A0C291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421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B5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1" name="F3_Harm_HH">
            <a:extLst xmlns:a="http://schemas.openxmlformats.org/drawingml/2006/main">
              <a:ext uri="{FF2B5EF4-FFF2-40B4-BE49-F238E27FC236}">
                <a16:creationId xmlns:a16="http://schemas.microsoft.com/office/drawing/2014/main" id="{B3339195-DA2F-425B-A9CB-1DF91047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81500"/>
            <a:ext cx="9271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0F8B8D"/>
            </a:solidFill>
            <a:prstDash val="dash"/>
            <a:headEnd type="triangle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F3_Harm_Swap">
            <a:extLst xmlns:a="http://schemas.openxmlformats.org/drawingml/2006/main">
              <a:ext uri="{FF2B5EF4-FFF2-40B4-BE49-F238E27FC236}">
                <a16:creationId xmlns:a16="http://schemas.microsoft.com/office/drawing/2014/main" id="{51E55C81-1975-4EFA-99D1-2D5B33E6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434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/>
            </a:pPr>
            <a:r>
              <a:rPr sz="78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outside named roles</a:t>
            </a:r>
          </a:p>
        </p:txBody>
      </p:sp>
      <p:sp>
        <p:nvSpPr>
          <p:cNvPr id="53" name="F3_Harm_Metric">
            <a:extLst xmlns:a="http://schemas.openxmlformats.org/drawingml/2006/main">
              <a:ext uri="{FF2B5EF4-FFF2-40B4-BE49-F238E27FC236}">
                <a16:creationId xmlns:a16="http://schemas.microsoft.com/office/drawing/2014/main" id="{6B9C069C-32B8-4884-A537-95AD25F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Mean 0.6003 vs 0.2226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Δ +0.3777 vs neutral</a:t>
            </a:r>
          </a:p>
          <a:p xmlns:a="http://schemas.openxmlformats.org/drawingml/2006/main">
            <a:pPr algn="l">
              <a:buNone/>
              <a:defRPr sz="863">
                <a:solidFill>
                  <a:srgbClr val="103E68"/>
                </a:solidFill>
              </a:defRPr>
            </a:pPr>
            <a:r>
              <a:rPr sz="863" b="0">
                <a:solidFill>
                  <a:srgbClr val="103E68"/>
                </a:solidFill>
                <a:latin typeface="Arial"/>
                <a:ea typeface="Arial"/>
                <a:cs typeface="Arial"/>
              </a:rPr>
              <a:t>Named E–E execution: 113/114</a:t>
            </a:r>
          </a:p>
        </p:txBody>
      </p:sp>
      <p:sp>
        <p:nvSpPr>
          <p:cNvPr id="54" name="F3_FooterRule">
            <a:extLst xmlns:a="http://schemas.openxmlformats.org/drawingml/2006/main">
              <a:ext uri="{FF2B5EF4-FFF2-40B4-BE49-F238E27FC236}">
                <a16:creationId xmlns:a16="http://schemas.microsoft.com/office/drawing/2014/main" id="{CEAB2787-F7AE-46DD-B563-20027B5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4813300"/>
            <a:ext cx="8636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BD5E1"/>
            </a:solidFill>
            <a:prstDash val="solid"/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F3_FooterDot">
            <a:extLst xmlns:a="http://schemas.openxmlformats.org/drawingml/2006/main">
              <a:ext uri="{FF2B5EF4-FFF2-40B4-BE49-F238E27FC236}">
                <a16:creationId xmlns:a16="http://schemas.microsoft.com/office/drawing/2014/main" id="{DE8BAA15-EAF5-4E90-B7D2-E96816A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49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" name="F3_Footer">
            <a:extLst xmlns:a="http://schemas.openxmlformats.org/drawingml/2006/main">
              <a:ext uri="{FF2B5EF4-FFF2-40B4-BE49-F238E27FC236}">
                <a16:creationId xmlns:a16="http://schemas.microsoft.com/office/drawing/2014/main" id="{E463969E-817D-4FB5-A732-2B84B11D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4851368"/>
            <a:ext cx="836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/>
            </a:pPr>
            <a:r>
              <a:rPr sz="915" b="0">
                <a:solidFill>
                  <a:srgbClr val="C85A00"/>
                </a:solidFill>
                <a:latin typeface="Arial"/>
                <a:ea typeface="Arial"/>
                <a:cs typeface="Arial"/>
              </a:rPr>
              <a:t>Money exact: zero named sales, so the priced-semantics boundary remains unidentified.</a:t>
            </a:r>
          </a:p>
        </p:txBody>
      </p:sp>
      <p:sp>
        <p:nvSpPr>
          <p:cNvPr id="57" name="F3_RowRule2">
            <a:extLst xmlns:a="http://schemas.openxmlformats.org/drawingml/2006/main">
              <a:ext uri="{FF2B5EF4-FFF2-40B4-BE49-F238E27FC236}">
                <a16:creationId xmlns:a16="http://schemas.microsoft.com/office/drawing/2014/main" id="{F895F57D-3136-4C51-9842-74214B0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3441700"/>
            <a:ext cx="8636000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BD5E1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F3_RowRule3">
            <a:extLst xmlns:a="http://schemas.openxmlformats.org/drawingml/2006/main">
              <a:ext uri="{FF2B5EF4-FFF2-40B4-BE49-F238E27FC236}">
                <a16:creationId xmlns:a16="http://schemas.microsoft.com/office/drawing/2014/main" id="{3671D6B5-28EF-4995-94A3-2EB31A18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4140200"/>
            <a:ext cx="8636000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BD5E1"/>
            </a:solidFill>
            <a:headEnd type="none"/>
            <a:tailEnd type="non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F3_Hard_H2_Added">
            <a:extLst xmlns:a="http://schemas.openxmlformats.org/drawingml/2006/main">
              <a:ext uri="{FF2B5EF4-FFF2-40B4-BE49-F238E27FC236}">
                <a16:creationId xmlns:a16="http://schemas.microsoft.com/office/drawing/2014/main" id="{EA163FE5-501B-4549-8FF1-5CF5879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68" y="3517868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81C4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43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0" name="F3_ThresholdNote">
            <a:extLst xmlns:a="http://schemas.openxmlformats.org/drawingml/2006/main">
              <a:ext uri="{FF2B5EF4-FFF2-40B4-BE49-F238E27FC236}">
                <a16:creationId xmlns:a16="http://schemas.microsoft.com/office/drawing/2014/main" id="{326A5846-B078-4C84-A4CB-BB68C87F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5875"/>
            <a:ext cx="862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defRPr sz="780">
                <a:solidFill>
                  <a:srgbClr val="435F7D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435F7D"/>
                </a:solidFill>
                <a:latin typeface="Arial"/>
                <a:ea typeface="Arial"/>
                <a:cs typeface="Arial"/>
              </a:rPr>
              <a:t>Seed means, n = 14 paired runs. Listed Δ contrasts pass MRES ≥ 0.25 and Holm-adjusted p ≤ 0.025.</a:t>
            </a:r>
          </a:p>
        </p:txBody>
      </p:sp>
    </p:spTree>
    <p:extLst>
      <p:ext uri="{BB962C8B-B14F-4D97-AF65-F5344CB8AC3E}">
        <p14:creationId xmlns:p14="http://schemas.microsoft.com/office/powerpoint/2010/main" val="8397912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2026-09-30T07:23:12.5940000Z</dcterms:created>
  <dcterms:modified xsi:type="dcterms:W3CDTF">2026-09-30T07:23:12.5940000Z</dcterms:modified>
</coreProperties>
</file>